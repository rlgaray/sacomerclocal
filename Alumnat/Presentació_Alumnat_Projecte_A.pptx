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12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41.png" ContentType="image/png"/>
  <Override PartName="/ppt/media/image30.png" ContentType="image/png"/>
  <Override PartName="/ppt/media/image28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37.png" ContentType="image/png"/>
  <Override PartName="/ppt/media/image7.png" ContentType="image/png"/>
  <Override PartName="/ppt/media/image2.png" ContentType="image/png"/>
  <Override PartName="/ppt/media/image32.png" ContentType="image/png"/>
  <Override PartName="/ppt/media/image11.png" ContentType="image/png"/>
  <Override PartName="/ppt/media/image36.png" ContentType="image/png"/>
  <Override PartName="/ppt/media/image6.png" ContentType="image/png"/>
  <Override PartName="/ppt/media/image29.png" ContentType="image/png"/>
  <Override PartName="/ppt/media/image10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a-ES-valencia" sz="1800" spc="-1" strike="noStrike">
                <a:solidFill>
                  <a:srgbClr val="000000"/>
                </a:solidFill>
                <a:latin typeface="Calibri"/>
              </a:rPr>
              <a:t>Pulse para desplazar la diapositiva</a:t>
            </a:r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ca-ES-valencia" sz="2000" spc="-1" strike="noStrike">
                <a:latin typeface="Arial"/>
              </a:rPr>
              <a:t>Pulse para editar el formato de las notas</a:t>
            </a:r>
            <a:endParaRPr b="0" lang="ca-ES-valencia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ca-ES-valencia" sz="1400" spc="-1" strike="noStrike">
                <a:latin typeface="Times New Roman"/>
              </a:rPr>
              <a:t>&lt;cabecera&gt;</a:t>
            </a:r>
            <a:endParaRPr b="0" lang="ca-ES-valencia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ca-ES-valenci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ca-ES-valencia" sz="1400" spc="-1" strike="noStrike">
                <a:latin typeface="Times New Roman"/>
              </a:rPr>
              <a:t>&lt;fecha/hora&gt;</a:t>
            </a:r>
            <a:endParaRPr b="0" lang="ca-ES-valencia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ca-ES-valencia" sz="1400" spc="-1" strike="noStrike">
                <a:latin typeface="Times New Roman"/>
              </a:defRPr>
            </a:lvl1pPr>
          </a:lstStyle>
          <a:p>
            <a:r>
              <a:rPr b="0" lang="ca-ES-valencia" sz="1400" spc="-1" strike="noStrike">
                <a:latin typeface="Times New Roman"/>
              </a:rPr>
              <a:t>&lt;pie de página&gt;</a:t>
            </a:r>
            <a:endParaRPr b="0" lang="ca-ES-valencia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ca-ES-valenci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AF70368-EE9F-4BCF-8D34-0132CA9984BC}" type="slidenum">
              <a:rPr b="0" lang="ca-ES-valencia" sz="1400" spc="-1" strike="noStrike">
                <a:latin typeface="Times New Roman"/>
              </a:rPr>
              <a:t>&lt;número&gt;</a:t>
            </a:fld>
            <a:endParaRPr b="0" lang="ca-ES-valenci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AB9A5A-33C7-495F-A70C-8A9F8010DF38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72A1DF-B47E-4B52-9A3E-833839E44069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9513B6-F551-4BB7-8FFC-BEE89D90149C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00BCD5-5186-4F55-A195-CB6CFBB3AB42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7263D2-CFE1-4E90-BCE8-37F6B801E928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528C20-0579-4A83-B69E-C454E12542E8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A520EF-3781-4D6F-B296-609D995E6A31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AAE0B0B-2120-4BC1-AB47-5F73D1729951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34852E-F81F-40CB-84B0-4CA66C687D6F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a-ES-valencia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6EE7B8-9DD2-468E-8719-3460CC1ACB46}" type="slidenum">
              <a:rPr b="0" lang="ca-ES-valencia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ca-ES-valenci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ca-ES-valenci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ca-ES-valenci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a-ES-valencia" sz="1800" spc="-1" strike="noStrike">
                <a:solidFill>
                  <a:srgbClr val="000000"/>
                </a:solidFill>
                <a:latin typeface="Calibri"/>
              </a:rPr>
              <a:t>Pulse para editar </a:t>
            </a:r>
            <a:r>
              <a:rPr b="0" lang="ca-ES-valencia" sz="1800" spc="-1" strike="noStrike">
                <a:solidFill>
                  <a:srgbClr val="000000"/>
                </a:solidFill>
                <a:latin typeface="Calibri"/>
              </a:rPr>
              <a:t>el formato del </a:t>
            </a:r>
            <a:r>
              <a:rPr b="0" lang="ca-ES-valencia" sz="1800" spc="-1" strike="noStrike">
                <a:solidFill>
                  <a:srgbClr val="000000"/>
                </a:solidFill>
                <a:latin typeface="Calibri"/>
              </a:rPr>
              <a:t>texto de título</a:t>
            </a:r>
            <a:endParaRPr b="0" lang="ca-ES-valencia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-valencia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ca-ES-valencia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-valencia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ca-ES-valencia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-valencia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ca-ES-valencia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-valencia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ca-ES-valencia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-valencia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ca-ES-valencia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-valencia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ca-ES-valencia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-valencia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ca-ES-valencia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73080"/>
            <a:ext cx="319680" cy="5069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320040" y="457200"/>
            <a:ext cx="5760360" cy="7311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11480" y="502920"/>
            <a:ext cx="5577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0f2236"/>
                </a:solidFill>
                <a:latin typeface="Calibri"/>
              </a:rPr>
              <a:t>CFGS Desenvolupament d'Aplicacions Web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11480" y="1325880"/>
            <a:ext cx="6857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4800" spc="-1" strike="noStrike">
                <a:solidFill>
                  <a:srgbClr val="ffffff"/>
                </a:solidFill>
                <a:latin typeface="Calibri"/>
              </a:rPr>
              <a:t>SA Comerç Local</a:t>
            </a:r>
            <a:endParaRPr b="0" lang="ca-ES-valencia" sz="48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11480" y="251460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2200" spc="-1" strike="noStrike">
                <a:solidFill>
                  <a:srgbClr val="a8d4f0"/>
                </a:solidFill>
                <a:latin typeface="Calibri"/>
              </a:rPr>
              <a:t>Projecte de Desenvolupament Web</a:t>
            </a:r>
            <a:endParaRPr b="0" lang="ca-ES-valencia" sz="2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11480" y="301752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ca-ES-valencia" sz="1400" spc="-1" strike="noStrike">
                <a:solidFill>
                  <a:srgbClr val="7bafd4"/>
                </a:solidFill>
                <a:latin typeface="Calibri"/>
              </a:rPr>
              <a:t>Mòdul 0612 — Desenvolupament Web en Entorn Client</a:t>
            </a:r>
            <a:endParaRPr b="0" lang="ca-ES-valencia" sz="14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20040" y="4114800"/>
            <a:ext cx="8503560" cy="8226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457200" y="4251960"/>
            <a:ext cx="1462680" cy="45684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457200" y="427032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000" spc="-1" strike="noStrike">
                <a:solidFill>
                  <a:srgbClr val="ffffff"/>
                </a:solidFill>
                <a:latin typeface="Calibri"/>
              </a:rPr>
              <a:t>React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2121480" y="4251960"/>
            <a:ext cx="1462680" cy="45684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2121480" y="427032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000" spc="-1" strike="noStrike">
                <a:solidFill>
                  <a:srgbClr val="ffffff"/>
                </a:solidFill>
                <a:latin typeface="Calibri"/>
              </a:rPr>
              <a:t>JavaScript ES6+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3785760" y="4251960"/>
            <a:ext cx="1462680" cy="45684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3"/>
          <p:cNvSpPr/>
          <p:nvPr/>
        </p:nvSpPr>
        <p:spPr>
          <a:xfrm>
            <a:off x="3785760" y="427032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000" spc="-1" strike="noStrike">
                <a:solidFill>
                  <a:srgbClr val="ffffff"/>
                </a:solidFill>
                <a:latin typeface="Calibri"/>
              </a:rPr>
              <a:t>Git / GitHub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5449680" y="4251960"/>
            <a:ext cx="1462680" cy="45684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5"/>
          <p:cNvSpPr/>
          <p:nvPr/>
        </p:nvSpPr>
        <p:spPr>
          <a:xfrm>
            <a:off x="5449680" y="427032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000" spc="-1" strike="noStrike">
                <a:solidFill>
                  <a:srgbClr val="ffffff"/>
                </a:solidFill>
                <a:latin typeface="Calibri"/>
              </a:rPr>
              <a:t>REST APIs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7113960" y="4251960"/>
            <a:ext cx="1462680" cy="45684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7"/>
          <p:cNvSpPr/>
          <p:nvPr/>
        </p:nvSpPr>
        <p:spPr>
          <a:xfrm>
            <a:off x="7113960" y="427032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000" spc="-1" strike="noStrike">
                <a:solidFill>
                  <a:srgbClr val="ffffff"/>
                </a:solidFill>
                <a:latin typeface="Calibri"/>
              </a:rPr>
              <a:t>Scrum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6628320" y="914400"/>
            <a:ext cx="2285640" cy="2285640"/>
          </a:xfrm>
          <a:prstGeom prst="ellipse">
            <a:avLst/>
          </a:prstGeom>
          <a:solidFill>
            <a:srgbClr val="0d2b45">
              <a:alpha val="70000"/>
            </a:srgbClr>
          </a:solidFill>
          <a:ln w="12700">
            <a:solidFill>
              <a:srgbClr val="0d2b45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Shape 19"/>
          <p:cNvSpPr/>
          <p:nvPr/>
        </p:nvSpPr>
        <p:spPr>
          <a:xfrm>
            <a:off x="6994080" y="1280160"/>
            <a:ext cx="1554120" cy="155412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4" name="Image 0" descr="preencoded.png"/>
          <p:cNvPicPr/>
          <p:nvPr/>
        </p:nvPicPr>
        <p:blipFill>
          <a:blip r:embed="rId1"/>
          <a:stretch/>
        </p:blipFill>
        <p:spPr>
          <a:xfrm>
            <a:off x="7131240" y="1417320"/>
            <a:ext cx="1279800" cy="127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"/>
          <p:cNvSpPr/>
          <p:nvPr/>
        </p:nvSpPr>
        <p:spPr>
          <a:xfrm>
            <a:off x="365760" y="13716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2800" spc="-1" strike="noStrike">
                <a:solidFill>
                  <a:srgbClr val="ffffff"/>
                </a:solidFill>
                <a:latin typeface="Calibri"/>
              </a:rPr>
              <a:t>En què consisteix el projecte?</a:t>
            </a:r>
            <a:endParaRPr b="0" lang="ca-ES-valencia" sz="2800" spc="-1" strike="noStrike"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365760" y="109728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ca-ES-valencia" sz="1400" spc="-1" strike="noStrike">
                <a:solidFill>
                  <a:srgbClr val="64748b"/>
                </a:solidFill>
                <a:latin typeface="Calibri"/>
              </a:rPr>
              <a:t>Construireu una plataforma digital per apropar els comerços locals de la vostra localitat a la ciutadania.</a:t>
            </a:r>
            <a:endParaRPr b="0" lang="ca-ES-valencia" sz="1400" spc="-1" strike="noStrike"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274320" y="1737360"/>
            <a:ext cx="1599840" cy="2742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Shape 5"/>
          <p:cNvSpPr/>
          <p:nvPr/>
        </p:nvSpPr>
        <p:spPr>
          <a:xfrm>
            <a:off x="274320" y="1737360"/>
            <a:ext cx="1599840" cy="502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822960" y="1792080"/>
            <a:ext cx="502560" cy="392760"/>
          </a:xfrm>
          <a:prstGeom prst="rect">
            <a:avLst/>
          </a:prstGeom>
          <a:ln w="0">
            <a:noFill/>
          </a:ln>
        </p:spPr>
      </p:pic>
      <p:sp>
        <p:nvSpPr>
          <p:cNvPr id="72" name="Text 6"/>
          <p:cNvSpPr/>
          <p:nvPr/>
        </p:nvSpPr>
        <p:spPr>
          <a:xfrm>
            <a:off x="347400" y="230436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1a3c5e"/>
                </a:solidFill>
                <a:latin typeface="Calibri"/>
              </a:rPr>
              <a:t>Cercar i filtrar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347400" y="278892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Per categories i tipus de comerç</a:t>
            </a:r>
            <a:endParaRPr b="0" lang="ca-ES-valencia" sz="950" spc="-1" strike="noStrike"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2011680" y="1737360"/>
            <a:ext cx="1599840" cy="2742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" name="Shape 9"/>
          <p:cNvSpPr/>
          <p:nvPr/>
        </p:nvSpPr>
        <p:spPr>
          <a:xfrm>
            <a:off x="2011680" y="1737360"/>
            <a:ext cx="1599840" cy="5025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6" name="Image 1" descr="preencoded.png"/>
          <p:cNvPicPr/>
          <p:nvPr/>
        </p:nvPicPr>
        <p:blipFill>
          <a:blip r:embed="rId2"/>
          <a:stretch/>
        </p:blipFill>
        <p:spPr>
          <a:xfrm>
            <a:off x="2560320" y="1792080"/>
            <a:ext cx="502560" cy="392760"/>
          </a:xfrm>
          <a:prstGeom prst="rect">
            <a:avLst/>
          </a:prstGeom>
          <a:ln w="0">
            <a:noFill/>
          </a:ln>
        </p:spPr>
      </p:pic>
      <p:sp>
        <p:nvSpPr>
          <p:cNvPr id="77" name="Text 10"/>
          <p:cNvSpPr/>
          <p:nvPr/>
        </p:nvSpPr>
        <p:spPr>
          <a:xfrm>
            <a:off x="2084760" y="230436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1a3c5e"/>
                </a:solidFill>
                <a:latin typeface="Calibri"/>
              </a:rPr>
              <a:t>Catàleg de comerços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2084760" y="278892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Fitxes detallades de cada local</a:t>
            </a:r>
            <a:endParaRPr b="0" lang="ca-ES-valencia" sz="950" spc="-1" strike="noStrike">
              <a:latin typeface="Arial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3749040" y="1737360"/>
            <a:ext cx="1599840" cy="2742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" name="Shape 13"/>
          <p:cNvSpPr/>
          <p:nvPr/>
        </p:nvSpPr>
        <p:spPr>
          <a:xfrm>
            <a:off x="3749040" y="1737360"/>
            <a:ext cx="1599840" cy="502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1" name="Image 2" descr="preencoded.png"/>
          <p:cNvPicPr/>
          <p:nvPr/>
        </p:nvPicPr>
        <p:blipFill>
          <a:blip r:embed="rId3"/>
          <a:stretch/>
        </p:blipFill>
        <p:spPr>
          <a:xfrm>
            <a:off x="4297680" y="1792080"/>
            <a:ext cx="502560" cy="392760"/>
          </a:xfrm>
          <a:prstGeom prst="rect">
            <a:avLst/>
          </a:prstGeom>
          <a:ln w="0">
            <a:noFill/>
          </a:ln>
        </p:spPr>
      </p:pic>
      <p:sp>
        <p:nvSpPr>
          <p:cNvPr id="82" name="Text 14"/>
          <p:cNvSpPr/>
          <p:nvPr/>
        </p:nvSpPr>
        <p:spPr>
          <a:xfrm>
            <a:off x="3822120" y="230436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1a3c5e"/>
                </a:solidFill>
                <a:latin typeface="Calibri"/>
              </a:rPr>
              <a:t>Formulari contacte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3822120" y="278892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Comunicació directa amb els comerços</a:t>
            </a:r>
            <a:endParaRPr b="0" lang="ca-ES-valencia" sz="950" spc="-1" strike="noStrike">
              <a:latin typeface="Arial"/>
            </a:endParaRPr>
          </a:p>
        </p:txBody>
      </p:sp>
      <p:sp>
        <p:nvSpPr>
          <p:cNvPr id="84" name="Shape 16"/>
          <p:cNvSpPr/>
          <p:nvPr/>
        </p:nvSpPr>
        <p:spPr>
          <a:xfrm>
            <a:off x="5486400" y="1737360"/>
            <a:ext cx="1599840" cy="2742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Shape 17"/>
          <p:cNvSpPr/>
          <p:nvPr/>
        </p:nvSpPr>
        <p:spPr>
          <a:xfrm>
            <a:off x="5486400" y="1737360"/>
            <a:ext cx="1599840" cy="5025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6" name="Image 3" descr="preencoded.png"/>
          <p:cNvPicPr/>
          <p:nvPr/>
        </p:nvPicPr>
        <p:blipFill>
          <a:blip r:embed="rId4"/>
          <a:stretch/>
        </p:blipFill>
        <p:spPr>
          <a:xfrm>
            <a:off x="6035040" y="1792080"/>
            <a:ext cx="502560" cy="392760"/>
          </a:xfrm>
          <a:prstGeom prst="rect">
            <a:avLst/>
          </a:prstGeom>
          <a:ln w="0">
            <a:noFill/>
          </a:ln>
        </p:spPr>
      </p:pic>
      <p:sp>
        <p:nvSpPr>
          <p:cNvPr id="87" name="Text 18"/>
          <p:cNvSpPr/>
          <p:nvPr/>
        </p:nvSpPr>
        <p:spPr>
          <a:xfrm>
            <a:off x="5559480" y="230436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1a3c5e"/>
                </a:solidFill>
                <a:latin typeface="Calibri"/>
              </a:rPr>
              <a:t>Mapa interactiu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5559480" y="278892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Visualització geogràfica dels locals</a:t>
            </a:r>
            <a:endParaRPr b="0" lang="ca-ES-valencia" sz="950" spc="-1" strike="noStrike"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7223760" y="1737360"/>
            <a:ext cx="1599840" cy="2742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Shape 21"/>
          <p:cNvSpPr/>
          <p:nvPr/>
        </p:nvSpPr>
        <p:spPr>
          <a:xfrm>
            <a:off x="7223760" y="1737360"/>
            <a:ext cx="1599840" cy="5025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1" name="Image 4" descr="preencoded.png"/>
          <p:cNvPicPr/>
          <p:nvPr/>
        </p:nvPicPr>
        <p:blipFill>
          <a:blip r:embed="rId5"/>
          <a:stretch/>
        </p:blipFill>
        <p:spPr>
          <a:xfrm>
            <a:off x="7772400" y="1792080"/>
            <a:ext cx="502560" cy="392760"/>
          </a:xfrm>
          <a:prstGeom prst="rect">
            <a:avLst/>
          </a:prstGeom>
          <a:ln w="0">
            <a:noFill/>
          </a:ln>
        </p:spPr>
      </p:pic>
      <p:sp>
        <p:nvSpPr>
          <p:cNvPr id="92" name="Text 22"/>
          <p:cNvSpPr/>
          <p:nvPr/>
        </p:nvSpPr>
        <p:spPr>
          <a:xfrm>
            <a:off x="7296840" y="230436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1a3c5e"/>
                </a:solidFill>
                <a:latin typeface="Calibri"/>
              </a:rPr>
              <a:t>Web responsive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7296840" y="278892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Accessible des de qualsevol dispositiu</a:t>
            </a:r>
            <a:endParaRPr b="0" lang="ca-ES-valencia" sz="950" spc="-1" strike="noStrike">
              <a:latin typeface="Arial"/>
            </a:endParaRPr>
          </a:p>
        </p:txBody>
      </p:sp>
      <p:sp>
        <p:nvSpPr>
          <p:cNvPr id="94" name="Shape 24"/>
          <p:cNvSpPr/>
          <p:nvPr/>
        </p:nvSpPr>
        <p:spPr>
          <a:xfrm>
            <a:off x="274320" y="4617720"/>
            <a:ext cx="8595000" cy="3837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5"/>
          <p:cNvSpPr/>
          <p:nvPr/>
        </p:nvSpPr>
        <p:spPr>
          <a:xfrm>
            <a:off x="274320" y="461772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200" spc="-1" strike="noStrike">
                <a:solidFill>
                  <a:srgbClr val="0f2236"/>
                </a:solidFill>
                <a:latin typeface="Calibri"/>
              </a:rPr>
              <a:t>Impacte real. Molts xicotets negocis no tenen presència digital. La vostra web pot canviar-ho!</a:t>
            </a:r>
            <a:endParaRPr b="0" lang="ca-ES-valenci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"/>
          <p:cNvSpPr/>
          <p:nvPr/>
        </p:nvSpPr>
        <p:spPr>
          <a:xfrm>
            <a:off x="365760" y="13716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2800" spc="-1" strike="noStrike">
                <a:solidFill>
                  <a:srgbClr val="ffffff"/>
                </a:solidFill>
                <a:latin typeface="Calibri"/>
              </a:rPr>
              <a:t>Per què val la pena?</a:t>
            </a:r>
            <a:endParaRPr b="0" lang="ca-ES-valencia" sz="2800" spc="-1" strike="noStrike"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274320" y="1097280"/>
            <a:ext cx="4205880" cy="374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Shape 4"/>
          <p:cNvSpPr/>
          <p:nvPr/>
        </p:nvSpPr>
        <p:spPr>
          <a:xfrm>
            <a:off x="274320" y="1097280"/>
            <a:ext cx="4205880" cy="5940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1" name="Image 0" descr="preencoded.png"/>
          <p:cNvPicPr/>
          <p:nvPr/>
        </p:nvPicPr>
        <p:blipFill>
          <a:blip r:embed="rId1"/>
          <a:stretch/>
        </p:blipFill>
        <p:spPr>
          <a:xfrm>
            <a:off x="365760" y="11430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02" name="Text 5"/>
          <p:cNvSpPr/>
          <p:nvPr/>
        </p:nvSpPr>
        <p:spPr>
          <a:xfrm>
            <a:off x="868680" y="1124640"/>
            <a:ext cx="352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ffffff"/>
                </a:solidFill>
                <a:latin typeface="Calibri"/>
              </a:rPr>
              <a:t>Impacte real al teu municipi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411480" y="1783080"/>
            <a:ext cx="393156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200" spc="-1" strike="noStrike">
                <a:solidFill>
                  <a:srgbClr val="0f2236"/>
                </a:solidFill>
                <a:latin typeface="Calibri"/>
              </a:rPr>
              <a:t>Molts xicotets negocis no tenen presència digital</a:t>
            </a:r>
            <a:endParaRPr b="0" lang="ca-ES-valencia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200" spc="-1" strike="noStrike">
                <a:solidFill>
                  <a:srgbClr val="0f2236"/>
                </a:solidFill>
                <a:latin typeface="Calibri"/>
              </a:rPr>
              <a:t>La web ajuda la gent a descobrir i visitar els comerços locals</a:t>
            </a:r>
            <a:endParaRPr b="0" lang="ca-ES-valencia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200" spc="-1" strike="noStrike">
                <a:solidFill>
                  <a:srgbClr val="0f2236"/>
                </a:solidFill>
                <a:latin typeface="Calibri"/>
              </a:rPr>
              <a:t>El vostre treball pot tenir un impacte tangible a la comunitat</a:t>
            </a:r>
            <a:endParaRPr b="0" lang="ca-ES-valencia" sz="1200" spc="-1" strike="noStrike"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4754880" y="1097280"/>
            <a:ext cx="4205880" cy="374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Shape 8"/>
          <p:cNvSpPr/>
          <p:nvPr/>
        </p:nvSpPr>
        <p:spPr>
          <a:xfrm>
            <a:off x="4754880" y="1097280"/>
            <a:ext cx="4205880" cy="594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6" name="Image 1" descr="preencoded.png"/>
          <p:cNvPicPr/>
          <p:nvPr/>
        </p:nvPicPr>
        <p:blipFill>
          <a:blip r:embed="rId2"/>
          <a:stretch/>
        </p:blipFill>
        <p:spPr>
          <a:xfrm>
            <a:off x="4846320" y="11430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07" name="Text 9"/>
          <p:cNvSpPr/>
          <p:nvPr/>
        </p:nvSpPr>
        <p:spPr>
          <a:xfrm>
            <a:off x="5349240" y="1124640"/>
            <a:ext cx="352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ffffff"/>
                </a:solidFill>
                <a:latin typeface="Calibri"/>
              </a:rPr>
              <a:t>Treballareu com al sector real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4892040" y="1783080"/>
            <a:ext cx="393156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200" spc="-1" strike="noStrike">
                <a:solidFill>
                  <a:srgbClr val="0f2236"/>
                </a:solidFill>
                <a:latin typeface="Calibri"/>
              </a:rPr>
              <a:t>Treball en equip amb metodologia àgil (Scrum)</a:t>
            </a:r>
            <a:endParaRPr b="0" lang="ca-ES-valencia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200" spc="-1" strike="noStrike">
                <a:solidFill>
                  <a:srgbClr val="0f2236"/>
                </a:solidFill>
                <a:latin typeface="Calibri"/>
              </a:rPr>
              <a:t>Gestió de tasques amb tauler Kanban (Trello)</a:t>
            </a:r>
            <a:endParaRPr b="0" lang="ca-ES-valencia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200" spc="-1" strike="noStrike">
                <a:solidFill>
                  <a:srgbClr val="0f2236"/>
                </a:solidFill>
                <a:latin typeface="Calibri"/>
              </a:rPr>
              <a:t>Col·laboració amb Git i GitHub com els professionals</a:t>
            </a:r>
            <a:endParaRPr b="0" lang="ca-ES-valencia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200" spc="-1" strike="noStrike">
                <a:solidFill>
                  <a:srgbClr val="0f2236"/>
                </a:solidFill>
                <a:latin typeface="Calibri"/>
              </a:rPr>
              <a:t>React, el framework JS més demanat al mercat laboral</a:t>
            </a:r>
            <a:endParaRPr b="0" lang="ca-ES-valenci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"/>
          <p:cNvSpPr/>
          <p:nvPr/>
        </p:nvSpPr>
        <p:spPr>
          <a:xfrm>
            <a:off x="365760" y="13716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2800" spc="-1" strike="noStrike">
                <a:solidFill>
                  <a:srgbClr val="ffffff"/>
                </a:solidFill>
                <a:latin typeface="Calibri"/>
              </a:rPr>
              <a:t>Com treballarem? Metodologia àgil</a:t>
            </a:r>
            <a:endParaRPr b="0" lang="ca-ES-valencia" sz="2800" spc="-1" strike="noStrike"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182880" y="1143000"/>
            <a:ext cx="1572480" cy="356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Shape 4"/>
          <p:cNvSpPr/>
          <p:nvPr/>
        </p:nvSpPr>
        <p:spPr>
          <a:xfrm>
            <a:off x="182880" y="1143000"/>
            <a:ext cx="1572480" cy="72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5"/>
          <p:cNvSpPr/>
          <p:nvPr/>
        </p:nvSpPr>
        <p:spPr>
          <a:xfrm>
            <a:off x="621720" y="1298520"/>
            <a:ext cx="694440" cy="6944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685800" y="13626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116" name="Text 6"/>
          <p:cNvSpPr/>
          <p:nvPr/>
        </p:nvSpPr>
        <p:spPr>
          <a:xfrm>
            <a:off x="237600" y="208476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2e86ab"/>
                </a:solidFill>
                <a:latin typeface="Calibri"/>
              </a:rPr>
              <a:t>Sprint</a:t>
            </a:r>
            <a:endParaRPr b="0" lang="ca-ES-valencia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2e86ab"/>
                </a:solidFill>
                <a:latin typeface="Calibri"/>
              </a:rPr>
              <a:t>Planning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237600" y="2743200"/>
            <a:ext cx="1462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L'equip distribueix les tasques i assumeix rols</a:t>
            </a:r>
            <a:endParaRPr b="0" lang="ca-ES-valencia" sz="950" spc="-1" strike="noStrike">
              <a:latin typeface="Arial"/>
            </a:endParaRPr>
          </a:p>
        </p:txBody>
      </p:sp>
      <p:pic>
        <p:nvPicPr>
          <p:cNvPr id="118" name="Image 1" descr="preencoded.png"/>
          <p:cNvPicPr/>
          <p:nvPr/>
        </p:nvPicPr>
        <p:blipFill>
          <a:blip r:embed="rId2"/>
          <a:stretch/>
        </p:blipFill>
        <p:spPr>
          <a:xfrm>
            <a:off x="1755720" y="228600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19" name="Shape 8"/>
          <p:cNvSpPr/>
          <p:nvPr/>
        </p:nvSpPr>
        <p:spPr>
          <a:xfrm>
            <a:off x="1947600" y="1143000"/>
            <a:ext cx="1572480" cy="356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Shape 9"/>
          <p:cNvSpPr/>
          <p:nvPr/>
        </p:nvSpPr>
        <p:spPr>
          <a:xfrm>
            <a:off x="1947600" y="1143000"/>
            <a:ext cx="157248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0"/>
          <p:cNvSpPr/>
          <p:nvPr/>
        </p:nvSpPr>
        <p:spPr>
          <a:xfrm>
            <a:off x="2386440" y="1298520"/>
            <a:ext cx="694440" cy="694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2" name="Image 2" descr="preencoded.png"/>
          <p:cNvPicPr/>
          <p:nvPr/>
        </p:nvPicPr>
        <p:blipFill>
          <a:blip r:embed="rId3"/>
          <a:stretch/>
        </p:blipFill>
        <p:spPr>
          <a:xfrm>
            <a:off x="2450520" y="13626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123" name="Text 11"/>
          <p:cNvSpPr/>
          <p:nvPr/>
        </p:nvSpPr>
        <p:spPr>
          <a:xfrm>
            <a:off x="2002680" y="208476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10b981"/>
                </a:solidFill>
                <a:latin typeface="Calibri"/>
              </a:rPr>
              <a:t>Standup</a:t>
            </a:r>
            <a:endParaRPr b="0" lang="ca-ES-valencia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10b981"/>
                </a:solidFill>
                <a:latin typeface="Calibri"/>
              </a:rPr>
              <a:t>Diari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2002680" y="2743200"/>
            <a:ext cx="1462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5-10 min: què vaig fer? Què faré? Bloqueigs?</a:t>
            </a:r>
            <a:endParaRPr b="0" lang="ca-ES-valencia" sz="950" spc="-1" strike="noStrike">
              <a:latin typeface="Arial"/>
            </a:endParaRPr>
          </a:p>
        </p:txBody>
      </p:sp>
      <p:pic>
        <p:nvPicPr>
          <p:cNvPr id="125" name="Image 3" descr="preencoded.png"/>
          <p:cNvPicPr/>
          <p:nvPr/>
        </p:nvPicPr>
        <p:blipFill>
          <a:blip r:embed="rId4"/>
          <a:stretch/>
        </p:blipFill>
        <p:spPr>
          <a:xfrm>
            <a:off x="3520440" y="228600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26" name="Shape 13"/>
          <p:cNvSpPr/>
          <p:nvPr/>
        </p:nvSpPr>
        <p:spPr>
          <a:xfrm>
            <a:off x="3712320" y="1143000"/>
            <a:ext cx="1572480" cy="356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Shape 14"/>
          <p:cNvSpPr/>
          <p:nvPr/>
        </p:nvSpPr>
        <p:spPr>
          <a:xfrm>
            <a:off x="3712320" y="1143000"/>
            <a:ext cx="1572480" cy="72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15"/>
          <p:cNvSpPr/>
          <p:nvPr/>
        </p:nvSpPr>
        <p:spPr>
          <a:xfrm>
            <a:off x="4151520" y="1298520"/>
            <a:ext cx="694440" cy="69444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9" name="Image 4" descr="preencoded.png"/>
          <p:cNvPicPr/>
          <p:nvPr/>
        </p:nvPicPr>
        <p:blipFill>
          <a:blip r:embed="rId5"/>
          <a:stretch/>
        </p:blipFill>
        <p:spPr>
          <a:xfrm>
            <a:off x="4215240" y="13626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130" name="Text 16"/>
          <p:cNvSpPr/>
          <p:nvPr/>
        </p:nvSpPr>
        <p:spPr>
          <a:xfrm>
            <a:off x="3767400" y="208476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f18f01"/>
                </a:solidFill>
                <a:latin typeface="Calibri"/>
              </a:rPr>
              <a:t>Desenvolu-</a:t>
            </a:r>
            <a:endParaRPr b="0" lang="ca-ES-valencia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f18f01"/>
                </a:solidFill>
                <a:latin typeface="Calibri"/>
              </a:rPr>
              <a:t>pament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3767400" y="2743200"/>
            <a:ext cx="1462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Programació, col·laboració i resolució de problemes</a:t>
            </a:r>
            <a:endParaRPr b="0" lang="ca-ES-valencia" sz="950" spc="-1" strike="noStrike">
              <a:latin typeface="Arial"/>
            </a:endParaRPr>
          </a:p>
        </p:txBody>
      </p:sp>
      <p:pic>
        <p:nvPicPr>
          <p:cNvPr id="132" name="Image 5" descr="preencoded.png"/>
          <p:cNvPicPr/>
          <p:nvPr/>
        </p:nvPicPr>
        <p:blipFill>
          <a:blip r:embed="rId6"/>
          <a:stretch/>
        </p:blipFill>
        <p:spPr>
          <a:xfrm>
            <a:off x="5285160" y="228600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33" name="Shape 18"/>
          <p:cNvSpPr/>
          <p:nvPr/>
        </p:nvSpPr>
        <p:spPr>
          <a:xfrm>
            <a:off x="5477400" y="1143000"/>
            <a:ext cx="1572480" cy="356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19"/>
          <p:cNvSpPr/>
          <p:nvPr/>
        </p:nvSpPr>
        <p:spPr>
          <a:xfrm>
            <a:off x="5477400" y="1143000"/>
            <a:ext cx="1572480" cy="72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20"/>
          <p:cNvSpPr/>
          <p:nvPr/>
        </p:nvSpPr>
        <p:spPr>
          <a:xfrm>
            <a:off x="5916240" y="1298520"/>
            <a:ext cx="694440" cy="6944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36" name="Image 6" descr="preencoded.png"/>
          <p:cNvPicPr/>
          <p:nvPr/>
        </p:nvPicPr>
        <p:blipFill>
          <a:blip r:embed="rId7"/>
          <a:stretch/>
        </p:blipFill>
        <p:spPr>
          <a:xfrm>
            <a:off x="5980320" y="13626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137" name="Text 21"/>
          <p:cNvSpPr/>
          <p:nvPr/>
        </p:nvSpPr>
        <p:spPr>
          <a:xfrm>
            <a:off x="5532120" y="208476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9b59b6"/>
                </a:solidFill>
                <a:latin typeface="Calibri"/>
              </a:rPr>
              <a:t>Sprint</a:t>
            </a:r>
            <a:endParaRPr b="0" lang="ca-ES-valencia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9b59b6"/>
                </a:solidFill>
                <a:latin typeface="Calibri"/>
              </a:rPr>
              <a:t>Review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138" name="Text 22"/>
          <p:cNvSpPr/>
          <p:nvPr/>
        </p:nvSpPr>
        <p:spPr>
          <a:xfrm>
            <a:off x="5532120" y="2743200"/>
            <a:ext cx="1462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Demo del producte i feedback del professorat</a:t>
            </a:r>
            <a:endParaRPr b="0" lang="ca-ES-valencia" sz="950" spc="-1" strike="noStrike">
              <a:latin typeface="Arial"/>
            </a:endParaRPr>
          </a:p>
        </p:txBody>
      </p:sp>
      <p:pic>
        <p:nvPicPr>
          <p:cNvPr id="139" name="Image 7" descr="preencoded.png"/>
          <p:cNvPicPr/>
          <p:nvPr/>
        </p:nvPicPr>
        <p:blipFill>
          <a:blip r:embed="rId8"/>
          <a:stretch/>
        </p:blipFill>
        <p:spPr>
          <a:xfrm>
            <a:off x="7049880" y="228600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40" name="Shape 23"/>
          <p:cNvSpPr/>
          <p:nvPr/>
        </p:nvSpPr>
        <p:spPr>
          <a:xfrm>
            <a:off x="7242120" y="1143000"/>
            <a:ext cx="1572480" cy="356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24"/>
          <p:cNvSpPr/>
          <p:nvPr/>
        </p:nvSpPr>
        <p:spPr>
          <a:xfrm>
            <a:off x="7242120" y="1143000"/>
            <a:ext cx="1572480" cy="72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25"/>
          <p:cNvSpPr/>
          <p:nvPr/>
        </p:nvSpPr>
        <p:spPr>
          <a:xfrm>
            <a:off x="7680960" y="1298520"/>
            <a:ext cx="694440" cy="694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43" name="Image 8" descr="preencoded.png"/>
          <p:cNvPicPr/>
          <p:nvPr/>
        </p:nvPicPr>
        <p:blipFill>
          <a:blip r:embed="rId9"/>
          <a:stretch/>
        </p:blipFill>
        <p:spPr>
          <a:xfrm>
            <a:off x="7745040" y="13626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144" name="Text 26"/>
          <p:cNvSpPr/>
          <p:nvPr/>
        </p:nvSpPr>
        <p:spPr>
          <a:xfrm>
            <a:off x="7296840" y="208476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e74c3c"/>
                </a:solidFill>
                <a:latin typeface="Calibri"/>
              </a:rPr>
              <a:t>Retrospectiva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145" name="Text 27"/>
          <p:cNvSpPr/>
          <p:nvPr/>
        </p:nvSpPr>
        <p:spPr>
          <a:xfrm>
            <a:off x="7296840" y="2743200"/>
            <a:ext cx="1462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950" spc="-1" strike="noStrike">
                <a:solidFill>
                  <a:srgbClr val="64748b"/>
                </a:solidFill>
                <a:latin typeface="Calibri"/>
              </a:rPr>
              <a:t>Reflexió: què ha funcionat i què cal millorar</a:t>
            </a:r>
            <a:endParaRPr b="0" lang="ca-ES-valencia" sz="950" spc="-1" strike="noStrike">
              <a:latin typeface="Arial"/>
            </a:endParaRPr>
          </a:p>
        </p:txBody>
      </p:sp>
      <p:sp>
        <p:nvSpPr>
          <p:cNvPr id="146" name="Shape 28"/>
          <p:cNvSpPr/>
          <p:nvPr/>
        </p:nvSpPr>
        <p:spPr>
          <a:xfrm>
            <a:off x="182880" y="4773240"/>
            <a:ext cx="8777880" cy="2556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29"/>
          <p:cNvSpPr/>
          <p:nvPr/>
        </p:nvSpPr>
        <p:spPr>
          <a:xfrm>
            <a:off x="182880" y="4773240"/>
            <a:ext cx="877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100" spc="-1" strike="noStrike">
                <a:solidFill>
                  <a:srgbClr val="ffffff"/>
                </a:solidFill>
                <a:latin typeface="Calibri"/>
              </a:rPr>
              <a:t>22 setmanes · 5 sprints · Equips de 3-4 persones</a:t>
            </a:r>
            <a:endParaRPr b="0" lang="ca-ES-valencia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"/>
          <p:cNvSpPr/>
          <p:nvPr/>
        </p:nvSpPr>
        <p:spPr>
          <a:xfrm>
            <a:off x="365760" y="13716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2800" spc="-1" strike="noStrike">
                <a:solidFill>
                  <a:srgbClr val="ffffff"/>
                </a:solidFill>
                <a:latin typeface="Calibri"/>
              </a:rPr>
              <a:t>Rols rotatius de l'equip</a:t>
            </a:r>
            <a:endParaRPr b="0" lang="ca-ES-valencia" sz="2800" spc="-1" strike="noStrike"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457200" y="1097280"/>
            <a:ext cx="2605680" cy="3474360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4"/>
          <p:cNvSpPr/>
          <p:nvPr/>
        </p:nvSpPr>
        <p:spPr>
          <a:xfrm>
            <a:off x="457200" y="1097280"/>
            <a:ext cx="2605680" cy="727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5"/>
          <p:cNvSpPr/>
          <p:nvPr/>
        </p:nvSpPr>
        <p:spPr>
          <a:xfrm>
            <a:off x="1371600" y="1207080"/>
            <a:ext cx="776880" cy="77688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1444680" y="1280160"/>
            <a:ext cx="630720" cy="630720"/>
          </a:xfrm>
          <a:prstGeom prst="rect">
            <a:avLst/>
          </a:prstGeom>
          <a:ln w="0">
            <a:noFill/>
          </a:ln>
        </p:spPr>
      </p:pic>
      <p:sp>
        <p:nvSpPr>
          <p:cNvPr id="155" name="Text 6"/>
          <p:cNvSpPr/>
          <p:nvPr/>
        </p:nvSpPr>
        <p:spPr>
          <a:xfrm>
            <a:off x="548640" y="205740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600" spc="-1" strike="noStrike">
                <a:solidFill>
                  <a:srgbClr val="1a3c5e"/>
                </a:solidFill>
                <a:latin typeface="Calibri"/>
              </a:rPr>
              <a:t>Scrum Master</a:t>
            </a:r>
            <a:endParaRPr b="0" lang="ca-ES-valencia" sz="1600" spc="-1" strike="noStrike"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1188720" y="2541960"/>
            <a:ext cx="1142640" cy="273960"/>
          </a:xfrm>
          <a:prstGeom prst="roundRect">
            <a:avLst>
              <a:gd name="adj" fmla="val 13333"/>
            </a:avLst>
          </a:prstGeom>
          <a:solidFill>
            <a:srgbClr val="1a3c5e">
              <a:alpha val="15000"/>
            </a:srgbClr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8"/>
          <p:cNvSpPr/>
          <p:nvPr/>
        </p:nvSpPr>
        <p:spPr>
          <a:xfrm>
            <a:off x="1188720" y="25419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1a3c5e"/>
                </a:solidFill>
                <a:latin typeface="Calibri"/>
              </a:rPr>
              <a:t>Lideratge</a:t>
            </a:r>
            <a:endParaRPr b="0" lang="ca-ES-valencia" sz="900" spc="-1" strike="noStrike"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567000" y="2907720"/>
            <a:ext cx="2395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100" spc="-1" strike="noStrike">
                <a:solidFill>
                  <a:srgbClr val="64748b"/>
                </a:solidFill>
                <a:latin typeface="Calibri"/>
              </a:rPr>
              <a:t>Coordina l'equip, facilita les reunions de Scrum i és l'enllaç amb el professorat. Assegura que el procés funciona.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3291840" y="1097280"/>
            <a:ext cx="2605680" cy="3474360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Shape 11"/>
          <p:cNvSpPr/>
          <p:nvPr/>
        </p:nvSpPr>
        <p:spPr>
          <a:xfrm>
            <a:off x="3291840" y="1097280"/>
            <a:ext cx="2605680" cy="72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2"/>
          <p:cNvSpPr/>
          <p:nvPr/>
        </p:nvSpPr>
        <p:spPr>
          <a:xfrm>
            <a:off x="4206240" y="1207080"/>
            <a:ext cx="776880" cy="77688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4279320" y="1280160"/>
            <a:ext cx="630720" cy="630720"/>
          </a:xfrm>
          <a:prstGeom prst="rect">
            <a:avLst/>
          </a:prstGeom>
          <a:ln w="0">
            <a:noFill/>
          </a:ln>
        </p:spPr>
      </p:pic>
      <p:sp>
        <p:nvSpPr>
          <p:cNvPr id="163" name="Text 13"/>
          <p:cNvSpPr/>
          <p:nvPr/>
        </p:nvSpPr>
        <p:spPr>
          <a:xfrm>
            <a:off x="3383280" y="205740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600" spc="-1" strike="noStrike">
                <a:solidFill>
                  <a:srgbClr val="f18f01"/>
                </a:solidFill>
                <a:latin typeface="Calibri"/>
              </a:rPr>
              <a:t>UI / Disseny</a:t>
            </a:r>
            <a:endParaRPr b="0" lang="ca-ES-valencia" sz="1600" spc="-1" strike="noStrike"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4023360" y="2541960"/>
            <a:ext cx="1142640" cy="273960"/>
          </a:xfrm>
          <a:prstGeom prst="roundRect">
            <a:avLst>
              <a:gd name="adj" fmla="val 13333"/>
            </a:avLst>
          </a:prstGeom>
          <a:solidFill>
            <a:srgbClr val="f18f01">
              <a:alpha val="15000"/>
            </a:srgbClr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5"/>
          <p:cNvSpPr/>
          <p:nvPr/>
        </p:nvSpPr>
        <p:spPr>
          <a:xfrm>
            <a:off x="4023360" y="25419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f18f01"/>
                </a:solidFill>
                <a:latin typeface="Calibri"/>
              </a:rPr>
              <a:t>Creativitat</a:t>
            </a:r>
            <a:endParaRPr b="0" lang="ca-ES-valencia" sz="900" spc="-1" strike="noStrike">
              <a:latin typeface="Arial"/>
            </a:endParaRPr>
          </a:p>
        </p:txBody>
      </p:sp>
      <p:sp>
        <p:nvSpPr>
          <p:cNvPr id="166" name="Text 16"/>
          <p:cNvSpPr/>
          <p:nvPr/>
        </p:nvSpPr>
        <p:spPr>
          <a:xfrm>
            <a:off x="3401640" y="2907720"/>
            <a:ext cx="2395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100" spc="-1" strike="noStrike">
                <a:solidFill>
                  <a:srgbClr val="64748b"/>
                </a:solidFill>
                <a:latin typeface="Calibri"/>
              </a:rPr>
              <a:t>Cuida l'aspecte visual i l'experiència d'usuari de la web. Vetlla per la coherència i usabilitat de la interfície.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167" name="Shape 17"/>
          <p:cNvSpPr/>
          <p:nvPr/>
        </p:nvSpPr>
        <p:spPr>
          <a:xfrm>
            <a:off x="6126480" y="1097280"/>
            <a:ext cx="2605680" cy="3474360"/>
          </a:xfrm>
          <a:prstGeom prst="rect">
            <a:avLst/>
          </a:prstGeom>
          <a:solidFill>
            <a:srgbClr val="fafc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8" name="Shape 18"/>
          <p:cNvSpPr/>
          <p:nvPr/>
        </p:nvSpPr>
        <p:spPr>
          <a:xfrm>
            <a:off x="6126480" y="1097280"/>
            <a:ext cx="260568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9"/>
          <p:cNvSpPr/>
          <p:nvPr/>
        </p:nvSpPr>
        <p:spPr>
          <a:xfrm>
            <a:off x="7040880" y="1207080"/>
            <a:ext cx="776880" cy="776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70" name="Image 2" descr="preencoded.png"/>
          <p:cNvPicPr/>
          <p:nvPr/>
        </p:nvPicPr>
        <p:blipFill>
          <a:blip r:embed="rId3"/>
          <a:stretch/>
        </p:blipFill>
        <p:spPr>
          <a:xfrm>
            <a:off x="7113960" y="1280160"/>
            <a:ext cx="630720" cy="630720"/>
          </a:xfrm>
          <a:prstGeom prst="rect">
            <a:avLst/>
          </a:prstGeom>
          <a:ln w="0">
            <a:noFill/>
          </a:ln>
        </p:spPr>
      </p:pic>
      <p:sp>
        <p:nvSpPr>
          <p:cNvPr id="171" name="Text 20"/>
          <p:cNvSpPr/>
          <p:nvPr/>
        </p:nvSpPr>
        <p:spPr>
          <a:xfrm>
            <a:off x="6217920" y="205740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600" spc="-1" strike="noStrike">
                <a:solidFill>
                  <a:srgbClr val="10b981"/>
                </a:solidFill>
                <a:latin typeface="Calibri"/>
              </a:rPr>
              <a:t>Documentador</a:t>
            </a:r>
            <a:endParaRPr b="0" lang="ca-ES-valencia" sz="1600" spc="-1" strike="noStrike"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6858000" y="2541960"/>
            <a:ext cx="1142640" cy="273960"/>
          </a:xfrm>
          <a:prstGeom prst="roundRect">
            <a:avLst>
              <a:gd name="adj" fmla="val 13333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2"/>
          <p:cNvSpPr/>
          <p:nvPr/>
        </p:nvSpPr>
        <p:spPr>
          <a:xfrm>
            <a:off x="6858000" y="254196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10b981"/>
                </a:solidFill>
                <a:latin typeface="Calibri"/>
              </a:rPr>
              <a:t>Organització</a:t>
            </a:r>
            <a:endParaRPr b="0" lang="ca-ES-valencia" sz="900" spc="-1" strike="noStrike"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6236280" y="2907720"/>
            <a:ext cx="2395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100" spc="-1" strike="noStrike">
                <a:solidFill>
                  <a:srgbClr val="64748b"/>
                </a:solidFill>
                <a:latin typeface="Calibri"/>
              </a:rPr>
              <a:t>Documenta les tasques desenvolupades, les decisions tècniques preses i el procés de treball de l'equip.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457200" y="4663440"/>
            <a:ext cx="8229240" cy="319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25"/>
          <p:cNvSpPr/>
          <p:nvPr/>
        </p:nvSpPr>
        <p:spPr>
          <a:xfrm>
            <a:off x="457200" y="4663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ca-ES-valencia" sz="1050" spc="-1" strike="noStrike">
                <a:solidFill>
                  <a:srgbClr val="64748b"/>
                </a:solidFill>
                <a:latin typeface="Calibri"/>
              </a:rPr>
              <a:t>Els rols canvien en cada sprint — tothom experimenta totes les responsabilitats al llarg del projecte</a:t>
            </a:r>
            <a:endParaRPr b="0" lang="ca-ES-valencia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365760" y="13716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2800" spc="-1" strike="noStrike">
                <a:solidFill>
                  <a:srgbClr val="ffffff"/>
                </a:solidFill>
                <a:latin typeface="Calibri"/>
              </a:rPr>
              <a:t>Eines i tecnologies</a:t>
            </a:r>
            <a:endParaRPr b="0" lang="ca-ES-valencia" sz="2800" spc="-1" strike="noStrike"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274320" y="1143000"/>
            <a:ext cx="2742840" cy="1645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Shape 4"/>
          <p:cNvSpPr/>
          <p:nvPr/>
        </p:nvSpPr>
        <p:spPr>
          <a:xfrm>
            <a:off x="274320" y="1143000"/>
            <a:ext cx="914040" cy="16455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457200" y="160020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83" name="Text 5"/>
          <p:cNvSpPr/>
          <p:nvPr/>
        </p:nvSpPr>
        <p:spPr>
          <a:xfrm>
            <a:off x="1261800" y="1325880"/>
            <a:ext cx="1663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React + Vite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1261800" y="1783080"/>
            <a:ext cx="1663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00" spc="-1" strike="noStrike">
                <a:solidFill>
                  <a:srgbClr val="64748b"/>
                </a:solidFill>
                <a:latin typeface="Calibri"/>
              </a:rPr>
              <a:t>Framework i bundler de l'aplicació web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185" name="Shape 7"/>
          <p:cNvSpPr/>
          <p:nvPr/>
        </p:nvSpPr>
        <p:spPr>
          <a:xfrm>
            <a:off x="3182040" y="1143000"/>
            <a:ext cx="2742840" cy="1645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8"/>
          <p:cNvSpPr/>
          <p:nvPr/>
        </p:nvSpPr>
        <p:spPr>
          <a:xfrm>
            <a:off x="3182040" y="1143000"/>
            <a:ext cx="914040" cy="1645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87" name="Image 1" descr="preencoded.png"/>
          <p:cNvPicPr/>
          <p:nvPr/>
        </p:nvPicPr>
        <p:blipFill>
          <a:blip r:embed="rId2"/>
          <a:stretch/>
        </p:blipFill>
        <p:spPr>
          <a:xfrm>
            <a:off x="3364920" y="160020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88" name="Text 9"/>
          <p:cNvSpPr/>
          <p:nvPr/>
        </p:nvSpPr>
        <p:spPr>
          <a:xfrm>
            <a:off x="4169520" y="1325880"/>
            <a:ext cx="1663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VS Code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4169520" y="1783080"/>
            <a:ext cx="1663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00" spc="-1" strike="noStrike">
                <a:solidFill>
                  <a:srgbClr val="64748b"/>
                </a:solidFill>
                <a:latin typeface="Calibri"/>
              </a:rPr>
              <a:t>Editor de codi amb extensions recomanades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190" name="Shape 11"/>
          <p:cNvSpPr/>
          <p:nvPr/>
        </p:nvSpPr>
        <p:spPr>
          <a:xfrm>
            <a:off x="6089760" y="1143000"/>
            <a:ext cx="2742840" cy="1645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1" name="Shape 12"/>
          <p:cNvSpPr/>
          <p:nvPr/>
        </p:nvSpPr>
        <p:spPr>
          <a:xfrm>
            <a:off x="6089760" y="1143000"/>
            <a:ext cx="914040" cy="1645560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Image 2" descr="preencoded.png"/>
          <p:cNvPicPr/>
          <p:nvPr/>
        </p:nvPicPr>
        <p:blipFill>
          <a:blip r:embed="rId3"/>
          <a:stretch/>
        </p:blipFill>
        <p:spPr>
          <a:xfrm>
            <a:off x="6272640" y="160020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93" name="Text 13"/>
          <p:cNvSpPr/>
          <p:nvPr/>
        </p:nvSpPr>
        <p:spPr>
          <a:xfrm>
            <a:off x="7077600" y="1325880"/>
            <a:ext cx="1663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Git / GitHub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194" name="Text 14"/>
          <p:cNvSpPr/>
          <p:nvPr/>
        </p:nvSpPr>
        <p:spPr>
          <a:xfrm>
            <a:off x="7077600" y="1783080"/>
            <a:ext cx="1663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00" spc="-1" strike="noStrike">
                <a:solidFill>
                  <a:srgbClr val="64748b"/>
                </a:solidFill>
                <a:latin typeface="Calibri"/>
              </a:rPr>
              <a:t>Control de versions i treball col·laboratiu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195" name="Shape 15"/>
          <p:cNvSpPr/>
          <p:nvPr/>
        </p:nvSpPr>
        <p:spPr>
          <a:xfrm>
            <a:off x="274320" y="3017520"/>
            <a:ext cx="2742840" cy="1645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Shape 16"/>
          <p:cNvSpPr/>
          <p:nvPr/>
        </p:nvSpPr>
        <p:spPr>
          <a:xfrm>
            <a:off x="274320" y="3017520"/>
            <a:ext cx="914040" cy="164556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7" name="Image 3" descr="preencoded.png"/>
          <p:cNvPicPr/>
          <p:nvPr/>
        </p:nvPicPr>
        <p:blipFill>
          <a:blip r:embed="rId4"/>
          <a:stretch/>
        </p:blipFill>
        <p:spPr>
          <a:xfrm>
            <a:off x="457200" y="34747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98" name="Text 17"/>
          <p:cNvSpPr/>
          <p:nvPr/>
        </p:nvSpPr>
        <p:spPr>
          <a:xfrm>
            <a:off x="1261800" y="3200400"/>
            <a:ext cx="1663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Trello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199" name="Text 18"/>
          <p:cNvSpPr/>
          <p:nvPr/>
        </p:nvSpPr>
        <p:spPr>
          <a:xfrm>
            <a:off x="1261800" y="3657600"/>
            <a:ext cx="1663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00" spc="-1" strike="noStrike">
                <a:solidFill>
                  <a:srgbClr val="64748b"/>
                </a:solidFill>
                <a:latin typeface="Calibri"/>
              </a:rPr>
              <a:t>Tauler Kanban per gestionar les tasques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200" name="Shape 19"/>
          <p:cNvSpPr/>
          <p:nvPr/>
        </p:nvSpPr>
        <p:spPr>
          <a:xfrm>
            <a:off x="3182040" y="3017520"/>
            <a:ext cx="2742840" cy="1645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20"/>
          <p:cNvSpPr/>
          <p:nvPr/>
        </p:nvSpPr>
        <p:spPr>
          <a:xfrm>
            <a:off x="3182040" y="3017520"/>
            <a:ext cx="914040" cy="1645560"/>
          </a:xfrm>
          <a:prstGeom prst="rect">
            <a:avLst/>
          </a:prstGeom>
          <a:solidFill>
            <a:srgbClr val="fff0eb"/>
          </a:solidFill>
          <a:ln w="12700">
            <a:solidFill>
              <a:srgbClr val="fff0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2" name="Image 4" descr="preencoded.png"/>
          <p:cNvPicPr/>
          <p:nvPr/>
        </p:nvPicPr>
        <p:blipFill>
          <a:blip r:embed="rId5"/>
          <a:stretch/>
        </p:blipFill>
        <p:spPr>
          <a:xfrm>
            <a:off x="3364920" y="34747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03" name="Text 21"/>
          <p:cNvSpPr/>
          <p:nvPr/>
        </p:nvSpPr>
        <p:spPr>
          <a:xfrm>
            <a:off x="4169520" y="3200400"/>
            <a:ext cx="1663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DevTools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04" name="Text 22"/>
          <p:cNvSpPr/>
          <p:nvPr/>
        </p:nvSpPr>
        <p:spPr>
          <a:xfrm>
            <a:off x="4169520" y="3657600"/>
            <a:ext cx="1663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00" spc="-1" strike="noStrike">
                <a:solidFill>
                  <a:srgbClr val="64748b"/>
                </a:solidFill>
                <a:latin typeface="Calibri"/>
              </a:rPr>
              <a:t>Depuració i proves en Chrome / Firefox</a:t>
            </a:r>
            <a:endParaRPr b="0" lang="ca-ES-valencia" sz="1000" spc="-1" strike="noStrike">
              <a:latin typeface="Arial"/>
            </a:endParaRPr>
          </a:p>
        </p:txBody>
      </p:sp>
      <p:sp>
        <p:nvSpPr>
          <p:cNvPr id="205" name="Shape 23"/>
          <p:cNvSpPr/>
          <p:nvPr/>
        </p:nvSpPr>
        <p:spPr>
          <a:xfrm>
            <a:off x="6089760" y="3017520"/>
            <a:ext cx="2742840" cy="1645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6" name="Shape 24"/>
          <p:cNvSpPr/>
          <p:nvPr/>
        </p:nvSpPr>
        <p:spPr>
          <a:xfrm>
            <a:off x="6089760" y="3017520"/>
            <a:ext cx="914040" cy="1645560"/>
          </a:xfrm>
          <a:prstGeom prst="rect">
            <a:avLst/>
          </a:prstGeom>
          <a:solidFill>
            <a:srgbClr val="eaf7f0"/>
          </a:solidFill>
          <a:ln w="12700">
            <a:solidFill>
              <a:srgbClr val="eaf7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Image 5" descr="preencoded.png"/>
          <p:cNvPicPr/>
          <p:nvPr/>
        </p:nvPicPr>
        <p:blipFill>
          <a:blip r:embed="rId6"/>
          <a:stretch/>
        </p:blipFill>
        <p:spPr>
          <a:xfrm>
            <a:off x="6272640" y="34747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08" name="Text 25"/>
          <p:cNvSpPr/>
          <p:nvPr/>
        </p:nvSpPr>
        <p:spPr>
          <a:xfrm>
            <a:off x="7077600" y="3200400"/>
            <a:ext cx="1663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Leaflet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09" name="Text 26"/>
          <p:cNvSpPr/>
          <p:nvPr/>
        </p:nvSpPr>
        <p:spPr>
          <a:xfrm>
            <a:off x="7077600" y="3657600"/>
            <a:ext cx="1663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00" spc="-1" strike="noStrike">
                <a:solidFill>
                  <a:srgbClr val="64748b"/>
                </a:solidFill>
                <a:latin typeface="Calibri"/>
              </a:rPr>
              <a:t>Mapa interactiu per ubicar els comerços</a:t>
            </a:r>
            <a:endParaRPr b="0" lang="ca-ES-valencia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"/>
          <p:cNvSpPr/>
          <p:nvPr/>
        </p:nvSpPr>
        <p:spPr>
          <a:xfrm>
            <a:off x="365760" y="13716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2800" spc="-1" strike="noStrike">
                <a:solidFill>
                  <a:srgbClr val="ffffff"/>
                </a:solidFill>
                <a:latin typeface="Calibri"/>
              </a:rPr>
              <a:t>Competències que assolireu</a:t>
            </a:r>
            <a:endParaRPr b="0" lang="ca-ES-valencia" sz="2800" spc="-1" strike="noStrike"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274320" y="1097280"/>
            <a:ext cx="4160160" cy="456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4"/>
          <p:cNvSpPr/>
          <p:nvPr/>
        </p:nvSpPr>
        <p:spPr>
          <a:xfrm>
            <a:off x="274320" y="1097280"/>
            <a:ext cx="416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ffffff"/>
                </a:solidFill>
                <a:latin typeface="Calibri"/>
              </a:rPr>
              <a:t>Tècniques (RA 1-7)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15" name="Shape 5"/>
          <p:cNvSpPr/>
          <p:nvPr/>
        </p:nvSpPr>
        <p:spPr>
          <a:xfrm>
            <a:off x="274320" y="1627560"/>
            <a:ext cx="4160160" cy="438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6" name="Image 0" descr="preencoded.png"/>
          <p:cNvPicPr/>
          <p:nvPr/>
        </p:nvPicPr>
        <p:blipFill>
          <a:blip r:embed="rId1"/>
          <a:stretch/>
        </p:blipFill>
        <p:spPr>
          <a:xfrm>
            <a:off x="347400" y="1719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17" name="Text 6"/>
          <p:cNvSpPr/>
          <p:nvPr/>
        </p:nvSpPr>
        <p:spPr>
          <a:xfrm>
            <a:off x="658440" y="168264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JavaScript ES6+ (variables, funcions, OOP)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274320" y="2130480"/>
            <a:ext cx="416016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9" name="Image 1" descr="preencoded.png"/>
          <p:cNvPicPr/>
          <p:nvPr/>
        </p:nvPicPr>
        <p:blipFill>
          <a:blip r:embed="rId2"/>
          <a:stretch/>
        </p:blipFill>
        <p:spPr>
          <a:xfrm>
            <a:off x="347400" y="22219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20" name="Text 8"/>
          <p:cNvSpPr/>
          <p:nvPr/>
        </p:nvSpPr>
        <p:spPr>
          <a:xfrm>
            <a:off x="658440" y="218556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Manipulació dinàmica del DOM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274320" y="2633400"/>
            <a:ext cx="4160160" cy="438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22" name="Image 2" descr="preencoded.png"/>
          <p:cNvPicPr/>
          <p:nvPr/>
        </p:nvPicPr>
        <p:blipFill>
          <a:blip r:embed="rId3"/>
          <a:stretch/>
        </p:blipFill>
        <p:spPr>
          <a:xfrm>
            <a:off x="347400" y="27248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23" name="Text 10"/>
          <p:cNvSpPr/>
          <p:nvPr/>
        </p:nvSpPr>
        <p:spPr>
          <a:xfrm>
            <a:off x="658440" y="268848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Esdeveniments i validació de formularis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274320" y="3136320"/>
            <a:ext cx="416016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25" name="Image 3" descr="preencoded.png"/>
          <p:cNvPicPr/>
          <p:nvPr/>
        </p:nvPicPr>
        <p:blipFill>
          <a:blip r:embed="rId4"/>
          <a:stretch/>
        </p:blipFill>
        <p:spPr>
          <a:xfrm>
            <a:off x="347400" y="32277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26" name="Text 12"/>
          <p:cNvSpPr/>
          <p:nvPr/>
        </p:nvSpPr>
        <p:spPr>
          <a:xfrm>
            <a:off x="658440" y="319140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Comunicació asíncrona (Fetch, async/await)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274320" y="3639240"/>
            <a:ext cx="4160160" cy="438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28" name="Image 4" descr="preencoded.png"/>
          <p:cNvPicPr/>
          <p:nvPr/>
        </p:nvPicPr>
        <p:blipFill>
          <a:blip r:embed="rId5"/>
          <a:stretch/>
        </p:blipFill>
        <p:spPr>
          <a:xfrm>
            <a:off x="347400" y="37306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29" name="Text 14"/>
          <p:cNvSpPr/>
          <p:nvPr/>
        </p:nvSpPr>
        <p:spPr>
          <a:xfrm>
            <a:off x="658440" y="369432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React: components, estat i cicle de vida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274320" y="4142160"/>
            <a:ext cx="416016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31" name="Image 5" descr="preencoded.png"/>
          <p:cNvPicPr/>
          <p:nvPr/>
        </p:nvPicPr>
        <p:blipFill>
          <a:blip r:embed="rId6"/>
          <a:stretch/>
        </p:blipFill>
        <p:spPr>
          <a:xfrm>
            <a:off x="347400" y="42336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32" name="Text 16"/>
          <p:cNvSpPr/>
          <p:nvPr/>
        </p:nvSpPr>
        <p:spPr>
          <a:xfrm>
            <a:off x="658440" y="419724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Control de versions amb Git i GitHub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33" name="Shape 17"/>
          <p:cNvSpPr/>
          <p:nvPr/>
        </p:nvSpPr>
        <p:spPr>
          <a:xfrm>
            <a:off x="4709160" y="1097280"/>
            <a:ext cx="4160160" cy="456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8"/>
          <p:cNvSpPr/>
          <p:nvPr/>
        </p:nvSpPr>
        <p:spPr>
          <a:xfrm>
            <a:off x="4709160" y="1097280"/>
            <a:ext cx="416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ffffff"/>
                </a:solidFill>
                <a:latin typeface="Calibri"/>
              </a:rPr>
              <a:t>Transversals (Art. 5 RD 405/2023)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4709160" y="1627560"/>
            <a:ext cx="4160160" cy="438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36" name="Image 6" descr="preencoded.png"/>
          <p:cNvPicPr/>
          <p:nvPr/>
        </p:nvPicPr>
        <p:blipFill>
          <a:blip r:embed="rId7"/>
          <a:stretch/>
        </p:blipFill>
        <p:spPr>
          <a:xfrm>
            <a:off x="4782240" y="1719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37" name="Text 20"/>
          <p:cNvSpPr/>
          <p:nvPr/>
        </p:nvSpPr>
        <p:spPr>
          <a:xfrm>
            <a:off x="5093280" y="168264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Treball en equip i col·laboració activa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38" name="Shape 21"/>
          <p:cNvSpPr/>
          <p:nvPr/>
        </p:nvSpPr>
        <p:spPr>
          <a:xfrm>
            <a:off x="4709160" y="2130480"/>
            <a:ext cx="416016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39" name="Image 7" descr="preencoded.png"/>
          <p:cNvPicPr/>
          <p:nvPr/>
        </p:nvPicPr>
        <p:blipFill>
          <a:blip r:embed="rId8"/>
          <a:stretch/>
        </p:blipFill>
        <p:spPr>
          <a:xfrm>
            <a:off x="4782240" y="22219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0" name="Text 22"/>
          <p:cNvSpPr/>
          <p:nvPr/>
        </p:nvSpPr>
        <p:spPr>
          <a:xfrm>
            <a:off x="5093280" y="218556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Autonomia i iniciativa en la resolució de problemes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41" name="Shape 23"/>
          <p:cNvSpPr/>
          <p:nvPr/>
        </p:nvSpPr>
        <p:spPr>
          <a:xfrm>
            <a:off x="4709160" y="2633400"/>
            <a:ext cx="4160160" cy="438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2" name="Image 8" descr="preencoded.png"/>
          <p:cNvPicPr/>
          <p:nvPr/>
        </p:nvPicPr>
        <p:blipFill>
          <a:blip r:embed="rId9"/>
          <a:stretch/>
        </p:blipFill>
        <p:spPr>
          <a:xfrm>
            <a:off x="4782240" y="27248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3" name="Text 24"/>
          <p:cNvSpPr/>
          <p:nvPr/>
        </p:nvSpPr>
        <p:spPr>
          <a:xfrm>
            <a:off x="5093280" y="268848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Comunicació efectiva i presentació de resultats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44" name="Shape 25"/>
          <p:cNvSpPr/>
          <p:nvPr/>
        </p:nvSpPr>
        <p:spPr>
          <a:xfrm>
            <a:off x="4709160" y="3136320"/>
            <a:ext cx="416016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5" name="Image 9" descr="preencoded.png"/>
          <p:cNvPicPr/>
          <p:nvPr/>
        </p:nvPicPr>
        <p:blipFill>
          <a:blip r:embed="rId10"/>
          <a:stretch/>
        </p:blipFill>
        <p:spPr>
          <a:xfrm>
            <a:off x="4782240" y="32277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6" name="Text 26"/>
          <p:cNvSpPr/>
          <p:nvPr/>
        </p:nvSpPr>
        <p:spPr>
          <a:xfrm>
            <a:off x="5093280" y="319140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Documentació del procés de desenvolupament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47" name="Shape 27"/>
          <p:cNvSpPr/>
          <p:nvPr/>
        </p:nvSpPr>
        <p:spPr>
          <a:xfrm>
            <a:off x="4709160" y="3639240"/>
            <a:ext cx="4160160" cy="438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8" name="Image 10" descr="preencoded.png"/>
          <p:cNvPicPr/>
          <p:nvPr/>
        </p:nvPicPr>
        <p:blipFill>
          <a:blip r:embed="rId11"/>
          <a:stretch/>
        </p:blipFill>
        <p:spPr>
          <a:xfrm>
            <a:off x="4782240" y="37306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9" name="Text 28"/>
          <p:cNvSpPr/>
          <p:nvPr/>
        </p:nvSpPr>
        <p:spPr>
          <a:xfrm>
            <a:off x="5093280" y="369432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Adaptació al canvi i formació contínua</a:t>
            </a:r>
            <a:endParaRPr b="0" lang="ca-ES-valencia" sz="1050" spc="-1" strike="noStrike">
              <a:latin typeface="Arial"/>
            </a:endParaRPr>
          </a:p>
        </p:txBody>
      </p:sp>
      <p:sp>
        <p:nvSpPr>
          <p:cNvPr id="250" name="Shape 29"/>
          <p:cNvSpPr/>
          <p:nvPr/>
        </p:nvSpPr>
        <p:spPr>
          <a:xfrm>
            <a:off x="4709160" y="4142160"/>
            <a:ext cx="416016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51" name="Image 11" descr="preencoded.png"/>
          <p:cNvPicPr/>
          <p:nvPr/>
        </p:nvPicPr>
        <p:blipFill>
          <a:blip r:embed="rId12"/>
          <a:stretch/>
        </p:blipFill>
        <p:spPr>
          <a:xfrm>
            <a:off x="4782240" y="42336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52" name="Text 30"/>
          <p:cNvSpPr/>
          <p:nvPr/>
        </p:nvSpPr>
        <p:spPr>
          <a:xfrm>
            <a:off x="5093280" y="419724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050" spc="-1" strike="noStrike">
                <a:solidFill>
                  <a:srgbClr val="0f2236"/>
                </a:solidFill>
                <a:latin typeface="Calibri"/>
              </a:rPr>
              <a:t>Gestió de la qualitat i plans de prova</a:t>
            </a:r>
            <a:endParaRPr b="0" lang="ca-ES-valencia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2"/>
          <p:cNvSpPr/>
          <p:nvPr/>
        </p:nvSpPr>
        <p:spPr>
          <a:xfrm>
            <a:off x="365760" y="13716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2800" spc="-1" strike="noStrike">
                <a:solidFill>
                  <a:srgbClr val="ffffff"/>
                </a:solidFill>
                <a:latin typeface="Calibri"/>
              </a:rPr>
              <a:t>5 Sprints · 22 setmanes</a:t>
            </a:r>
            <a:endParaRPr b="0" lang="ca-ES-valencia" sz="2800" spc="-1" strike="noStrike">
              <a:latin typeface="Arial"/>
            </a:endParaRPr>
          </a:p>
        </p:txBody>
      </p:sp>
      <p:sp>
        <p:nvSpPr>
          <p:cNvPr id="256" name="Shape 3"/>
          <p:cNvSpPr/>
          <p:nvPr/>
        </p:nvSpPr>
        <p:spPr>
          <a:xfrm>
            <a:off x="228600" y="1170360"/>
            <a:ext cx="548280" cy="5482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4"/>
          <p:cNvSpPr/>
          <p:nvPr/>
        </p:nvSpPr>
        <p:spPr>
          <a:xfrm>
            <a:off x="228600" y="11703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8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ca-ES-valencia" sz="1800" spc="-1" strike="noStrike"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466200" y="1719000"/>
            <a:ext cx="72720" cy="200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6"/>
          <p:cNvSpPr/>
          <p:nvPr/>
        </p:nvSpPr>
        <p:spPr>
          <a:xfrm>
            <a:off x="914400" y="1078920"/>
            <a:ext cx="7954920" cy="703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0" name="Shape 7"/>
          <p:cNvSpPr/>
          <p:nvPr/>
        </p:nvSpPr>
        <p:spPr>
          <a:xfrm>
            <a:off x="914400" y="1078920"/>
            <a:ext cx="63720" cy="703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8"/>
          <p:cNvSpPr/>
          <p:nvPr/>
        </p:nvSpPr>
        <p:spPr>
          <a:xfrm>
            <a:off x="1051560" y="11340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2e86ab"/>
                </a:solidFill>
                <a:latin typeface="Calibri"/>
              </a:rPr>
              <a:t>Setmanes 1-4</a:t>
            </a:r>
            <a:endParaRPr b="0" lang="ca-ES-valencia" sz="900" spc="-1" strike="noStrike"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1051560" y="13989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Sprint 1: Fonaments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3931920" y="1188720"/>
            <a:ext cx="4754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100" spc="-1" strike="noStrike">
                <a:solidFill>
                  <a:srgbClr val="64748b"/>
                </a:solidFill>
                <a:latin typeface="Calibri"/>
              </a:rPr>
              <a:t>JavaScript, DOM, Git i configuració del projecte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264" name="Shape 11"/>
          <p:cNvSpPr/>
          <p:nvPr/>
        </p:nvSpPr>
        <p:spPr>
          <a:xfrm>
            <a:off x="228600" y="1938600"/>
            <a:ext cx="548280" cy="5482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2"/>
          <p:cNvSpPr/>
          <p:nvPr/>
        </p:nvSpPr>
        <p:spPr>
          <a:xfrm>
            <a:off x="228600" y="1938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8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ca-ES-valencia" sz="1800" spc="-1" strike="noStrike"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466200" y="2487240"/>
            <a:ext cx="72720" cy="200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Shape 14"/>
          <p:cNvSpPr/>
          <p:nvPr/>
        </p:nvSpPr>
        <p:spPr>
          <a:xfrm>
            <a:off x="914400" y="1847160"/>
            <a:ext cx="7954920" cy="70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8" name="Shape 15"/>
          <p:cNvSpPr/>
          <p:nvPr/>
        </p:nvSpPr>
        <p:spPr>
          <a:xfrm>
            <a:off x="914400" y="1847160"/>
            <a:ext cx="63720" cy="703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16"/>
          <p:cNvSpPr/>
          <p:nvPr/>
        </p:nvSpPr>
        <p:spPr>
          <a:xfrm>
            <a:off x="1051560" y="1901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10b981"/>
                </a:solidFill>
                <a:latin typeface="Calibri"/>
              </a:rPr>
              <a:t>Setmanes 5-8</a:t>
            </a:r>
            <a:endParaRPr b="0" lang="ca-ES-valencia" sz="900" spc="-1" strike="noStrike"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1051560" y="216720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Sprint 2: Interacció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3931920" y="1956960"/>
            <a:ext cx="4754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100" spc="-1" strike="noStrike">
                <a:solidFill>
                  <a:srgbClr val="64748b"/>
                </a:solidFill>
                <a:latin typeface="Calibri"/>
              </a:rPr>
              <a:t>Esdeveniments, formularis, validació i APIs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272" name="Shape 19"/>
          <p:cNvSpPr/>
          <p:nvPr/>
        </p:nvSpPr>
        <p:spPr>
          <a:xfrm>
            <a:off x="228600" y="2706480"/>
            <a:ext cx="548280" cy="54828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20"/>
          <p:cNvSpPr/>
          <p:nvPr/>
        </p:nvSpPr>
        <p:spPr>
          <a:xfrm>
            <a:off x="228600" y="2706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8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ca-ES-valencia" sz="1800" spc="-1" strike="noStrike"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466200" y="3255120"/>
            <a:ext cx="72720" cy="200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22"/>
          <p:cNvSpPr/>
          <p:nvPr/>
        </p:nvSpPr>
        <p:spPr>
          <a:xfrm>
            <a:off x="914400" y="2615040"/>
            <a:ext cx="7954920" cy="703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6" name="Shape 23"/>
          <p:cNvSpPr/>
          <p:nvPr/>
        </p:nvSpPr>
        <p:spPr>
          <a:xfrm>
            <a:off x="914400" y="2615040"/>
            <a:ext cx="63720" cy="7038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24"/>
          <p:cNvSpPr/>
          <p:nvPr/>
        </p:nvSpPr>
        <p:spPr>
          <a:xfrm>
            <a:off x="1051560" y="267012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f18f01"/>
                </a:solidFill>
                <a:latin typeface="Calibri"/>
              </a:rPr>
              <a:t>Setmanes 9-13</a:t>
            </a:r>
            <a:endParaRPr b="0" lang="ca-ES-valencia" sz="900" spc="-1" strike="noStrike">
              <a:latin typeface="Arial"/>
            </a:endParaRPr>
          </a:p>
        </p:txBody>
      </p:sp>
      <p:sp>
        <p:nvSpPr>
          <p:cNvPr id="278" name="Text 25"/>
          <p:cNvSpPr/>
          <p:nvPr/>
        </p:nvSpPr>
        <p:spPr>
          <a:xfrm>
            <a:off x="1051560" y="293508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Sprint 3: Dades i APIs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79" name="Text 26"/>
          <p:cNvSpPr/>
          <p:nvPr/>
        </p:nvSpPr>
        <p:spPr>
          <a:xfrm>
            <a:off x="3931920" y="2724840"/>
            <a:ext cx="4754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100" spc="-1" strike="noStrike">
                <a:solidFill>
                  <a:srgbClr val="64748b"/>
                </a:solidFill>
                <a:latin typeface="Calibri"/>
              </a:rPr>
              <a:t>Fetch, async/await, JSON i comunicació asíncrona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280" name="Shape 27"/>
          <p:cNvSpPr/>
          <p:nvPr/>
        </p:nvSpPr>
        <p:spPr>
          <a:xfrm>
            <a:off x="228600" y="3474720"/>
            <a:ext cx="548280" cy="5482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28"/>
          <p:cNvSpPr/>
          <p:nvPr/>
        </p:nvSpPr>
        <p:spPr>
          <a:xfrm>
            <a:off x="228600" y="34747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8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ca-ES-valencia" sz="1800" spc="-1" strike="noStrike">
              <a:latin typeface="Arial"/>
            </a:endParaRPr>
          </a:p>
        </p:txBody>
      </p:sp>
      <p:sp>
        <p:nvSpPr>
          <p:cNvPr id="282" name="Shape 29"/>
          <p:cNvSpPr/>
          <p:nvPr/>
        </p:nvSpPr>
        <p:spPr>
          <a:xfrm>
            <a:off x="466200" y="4023360"/>
            <a:ext cx="72720" cy="200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30"/>
          <p:cNvSpPr/>
          <p:nvPr/>
        </p:nvSpPr>
        <p:spPr>
          <a:xfrm>
            <a:off x="914400" y="3383280"/>
            <a:ext cx="7954920" cy="70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Shape 31"/>
          <p:cNvSpPr/>
          <p:nvPr/>
        </p:nvSpPr>
        <p:spPr>
          <a:xfrm>
            <a:off x="914400" y="3383280"/>
            <a:ext cx="63720" cy="703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32"/>
          <p:cNvSpPr/>
          <p:nvPr/>
        </p:nvSpPr>
        <p:spPr>
          <a:xfrm>
            <a:off x="1051560" y="34380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9b59b6"/>
                </a:solidFill>
                <a:latin typeface="Calibri"/>
              </a:rPr>
              <a:t>Setm. 14-18</a:t>
            </a:r>
            <a:endParaRPr b="0" lang="ca-ES-valencia" sz="900" spc="-1" strike="noStrike">
              <a:latin typeface="Arial"/>
            </a:endParaRPr>
          </a:p>
        </p:txBody>
      </p:sp>
      <p:sp>
        <p:nvSpPr>
          <p:cNvPr id="286" name="Text 33"/>
          <p:cNvSpPr/>
          <p:nvPr/>
        </p:nvSpPr>
        <p:spPr>
          <a:xfrm>
            <a:off x="1051560" y="370332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Sprint 4: React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87" name="Text 34"/>
          <p:cNvSpPr/>
          <p:nvPr/>
        </p:nvSpPr>
        <p:spPr>
          <a:xfrm>
            <a:off x="3931920" y="3493080"/>
            <a:ext cx="4754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100" spc="-1" strike="noStrike">
                <a:solidFill>
                  <a:srgbClr val="64748b"/>
                </a:solidFill>
                <a:latin typeface="Calibri"/>
              </a:rPr>
              <a:t>Components, estat, cicle de vida i React Router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288" name="Shape 35"/>
          <p:cNvSpPr/>
          <p:nvPr/>
        </p:nvSpPr>
        <p:spPr>
          <a:xfrm>
            <a:off x="228600" y="4242960"/>
            <a:ext cx="548280" cy="5482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36"/>
          <p:cNvSpPr/>
          <p:nvPr/>
        </p:nvSpPr>
        <p:spPr>
          <a:xfrm>
            <a:off x="228600" y="42429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8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ca-ES-valencia" sz="1800" spc="-1" strike="noStrike">
              <a:latin typeface="Arial"/>
            </a:endParaRPr>
          </a:p>
        </p:txBody>
      </p:sp>
      <p:sp>
        <p:nvSpPr>
          <p:cNvPr id="290" name="Shape 37"/>
          <p:cNvSpPr/>
          <p:nvPr/>
        </p:nvSpPr>
        <p:spPr>
          <a:xfrm>
            <a:off x="914400" y="4151520"/>
            <a:ext cx="7954920" cy="703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1" name="Shape 38"/>
          <p:cNvSpPr/>
          <p:nvPr/>
        </p:nvSpPr>
        <p:spPr>
          <a:xfrm>
            <a:off x="914400" y="4151520"/>
            <a:ext cx="63720" cy="703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39"/>
          <p:cNvSpPr/>
          <p:nvPr/>
        </p:nvSpPr>
        <p:spPr>
          <a:xfrm>
            <a:off x="1051560" y="42062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e74c3c"/>
                </a:solidFill>
                <a:latin typeface="Calibri"/>
              </a:rPr>
              <a:t>Setm. 19-22</a:t>
            </a:r>
            <a:endParaRPr b="0" lang="ca-ES-valencia" sz="900" spc="-1" strike="noStrike">
              <a:latin typeface="Arial"/>
            </a:endParaRPr>
          </a:p>
        </p:txBody>
      </p:sp>
      <p:sp>
        <p:nvSpPr>
          <p:cNvPr id="293" name="Text 40"/>
          <p:cNvSpPr/>
          <p:nvPr/>
        </p:nvSpPr>
        <p:spPr>
          <a:xfrm>
            <a:off x="1051560" y="44715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300" spc="-1" strike="noStrike">
                <a:solidFill>
                  <a:srgbClr val="1a3c5e"/>
                </a:solidFill>
                <a:latin typeface="Calibri"/>
              </a:rPr>
              <a:t>Sprint 5: Integració</a:t>
            </a:r>
            <a:endParaRPr b="0" lang="ca-ES-valencia" sz="1300" spc="-1" strike="noStrike">
              <a:latin typeface="Arial"/>
            </a:endParaRPr>
          </a:p>
        </p:txBody>
      </p:sp>
      <p:sp>
        <p:nvSpPr>
          <p:cNvPr id="294" name="Text 41"/>
          <p:cNvSpPr/>
          <p:nvPr/>
        </p:nvSpPr>
        <p:spPr>
          <a:xfrm>
            <a:off x="3931920" y="4260960"/>
            <a:ext cx="4754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100" spc="-1" strike="noStrike">
                <a:solidFill>
                  <a:srgbClr val="64748b"/>
                </a:solidFill>
                <a:latin typeface="Calibri"/>
              </a:rPr>
              <a:t>Posada en producció, testing i presentació final</a:t>
            </a:r>
            <a:endParaRPr b="0" lang="ca-ES-valencia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2"/>
          <p:cNvSpPr/>
          <p:nvPr/>
        </p:nvSpPr>
        <p:spPr>
          <a:xfrm>
            <a:off x="365760" y="13716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2800" spc="-1" strike="noStrike">
                <a:solidFill>
                  <a:srgbClr val="ffffff"/>
                </a:solidFill>
                <a:latin typeface="Calibri"/>
              </a:rPr>
              <a:t>Com s'avalua el projecte?</a:t>
            </a:r>
            <a:endParaRPr b="0" lang="ca-ES-valencia" sz="2800" spc="-1" strike="noStrike">
              <a:latin typeface="Arial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274320" y="1097280"/>
            <a:ext cx="2742840" cy="320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9" name="Shape 4"/>
          <p:cNvSpPr/>
          <p:nvPr/>
        </p:nvSpPr>
        <p:spPr>
          <a:xfrm>
            <a:off x="274320" y="1097280"/>
            <a:ext cx="2742840" cy="594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00" name="Image 0" descr="preencoded.png"/>
          <p:cNvPicPr/>
          <p:nvPr/>
        </p:nvPicPr>
        <p:blipFill>
          <a:blip r:embed="rId1"/>
          <a:stretch/>
        </p:blipFill>
        <p:spPr>
          <a:xfrm>
            <a:off x="365760" y="11613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01" name="Text 5"/>
          <p:cNvSpPr/>
          <p:nvPr/>
        </p:nvSpPr>
        <p:spPr>
          <a:xfrm>
            <a:off x="868680" y="112464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200" spc="-1" strike="noStrike">
                <a:solidFill>
                  <a:srgbClr val="ffffff"/>
                </a:solidFill>
                <a:latin typeface="Calibri"/>
              </a:rPr>
              <a:t>Activitats de cada sprint</a:t>
            </a:r>
            <a:endParaRPr b="0" lang="ca-ES-valencia" sz="1200" spc="-1" strike="noStrike"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411480" y="1810440"/>
            <a:ext cx="2468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Activitats vinculades al tauler Trello</a:t>
            </a:r>
            <a:endParaRPr b="0" lang="ca-ES-valencia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Cada activitat avalua criteris dels RA</a:t>
            </a:r>
            <a:endParaRPr b="0" lang="ca-ES-valencia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Determinen la qualificació de cada criteri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303" name="Shape 7"/>
          <p:cNvSpPr/>
          <p:nvPr/>
        </p:nvSpPr>
        <p:spPr>
          <a:xfrm>
            <a:off x="3182040" y="1097280"/>
            <a:ext cx="2742840" cy="320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Shape 8"/>
          <p:cNvSpPr/>
          <p:nvPr/>
        </p:nvSpPr>
        <p:spPr>
          <a:xfrm>
            <a:off x="3182040" y="1097280"/>
            <a:ext cx="2742840" cy="594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05" name="Image 1" descr="preencoded.png"/>
          <p:cNvPicPr/>
          <p:nvPr/>
        </p:nvPicPr>
        <p:blipFill>
          <a:blip r:embed="rId2"/>
          <a:stretch/>
        </p:blipFill>
        <p:spPr>
          <a:xfrm>
            <a:off x="3273480" y="11613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06" name="Text 9"/>
          <p:cNvSpPr/>
          <p:nvPr/>
        </p:nvSpPr>
        <p:spPr>
          <a:xfrm>
            <a:off x="3776400" y="112464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200" spc="-1" strike="noStrike">
                <a:solidFill>
                  <a:srgbClr val="ffffff"/>
                </a:solidFill>
                <a:latin typeface="Calibri"/>
              </a:rPr>
              <a:t>Entrega final del projecte</a:t>
            </a:r>
            <a:endParaRPr b="0" lang="ca-ES-valencia" sz="1200" spc="-1" strike="noStrike"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3319200" y="1810440"/>
            <a:ext cx="2468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Web completa i funcional</a:t>
            </a:r>
            <a:endParaRPr b="0" lang="ca-ES-valencia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Producte integrador de tot el treball</a:t>
            </a:r>
            <a:endParaRPr b="0" lang="ca-ES-valencia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Presentació davant el professorat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6089760" y="1097280"/>
            <a:ext cx="2742840" cy="320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Shape 12"/>
          <p:cNvSpPr/>
          <p:nvPr/>
        </p:nvSpPr>
        <p:spPr>
          <a:xfrm>
            <a:off x="6089760" y="1097280"/>
            <a:ext cx="2742840" cy="594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10" name="Image 2" descr="preencoded.png"/>
          <p:cNvPicPr/>
          <p:nvPr/>
        </p:nvPicPr>
        <p:blipFill>
          <a:blip r:embed="rId3"/>
          <a:stretch/>
        </p:blipFill>
        <p:spPr>
          <a:xfrm>
            <a:off x="6181200" y="116136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11" name="Text 13"/>
          <p:cNvSpPr/>
          <p:nvPr/>
        </p:nvSpPr>
        <p:spPr>
          <a:xfrm>
            <a:off x="6684120" y="112464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200" spc="-1" strike="noStrike">
                <a:solidFill>
                  <a:srgbClr val="ffffff"/>
                </a:solidFill>
                <a:latin typeface="Calibri"/>
              </a:rPr>
              <a:t>Procés de treball</a:t>
            </a:r>
            <a:endParaRPr b="0" lang="ca-ES-valencia" sz="1200" spc="-1" strike="noStrike">
              <a:latin typeface="Arial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6226920" y="1810440"/>
            <a:ext cx="2468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Ús correcte del tauler Kanban</a:t>
            </a:r>
            <a:endParaRPr b="0" lang="ca-ES-valencia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Participació en les cerimònies Scrum</a:t>
            </a:r>
            <a:endParaRPr b="0" lang="ca-ES-valencia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f2236"/>
              </a:buClr>
              <a:buFont typeface="Symbol" charset="2"/>
              <a:buChar char=""/>
            </a:pPr>
            <a:r>
              <a:rPr b="0" lang="ca-ES-valencia" sz="1100" spc="-1" strike="noStrike">
                <a:solidFill>
                  <a:srgbClr val="0f2236"/>
                </a:solidFill>
                <a:latin typeface="Calibri"/>
              </a:rPr>
              <a:t>Col·laboració i contribució en equip</a:t>
            </a:r>
            <a:endParaRPr b="0" lang="ca-ES-valencia" sz="1100" spc="-1" strike="noStrike"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274320" y="4434840"/>
            <a:ext cx="8595000" cy="5025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16"/>
          <p:cNvSpPr/>
          <p:nvPr/>
        </p:nvSpPr>
        <p:spPr>
          <a:xfrm>
            <a:off x="274320" y="44348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1200" spc="-1" strike="noStrike">
                <a:solidFill>
                  <a:srgbClr val="0f2236"/>
                </a:solidFill>
                <a:latin typeface="Calibri"/>
              </a:rPr>
              <a:t>⚠️  </a:t>
            </a:r>
            <a:r>
              <a:rPr b="1" lang="ca-ES-valencia" sz="1200" spc="-1" strike="noStrike">
                <a:solidFill>
                  <a:srgbClr val="0f2236"/>
                </a:solidFill>
                <a:latin typeface="Calibri"/>
              </a:rPr>
              <a:t>Per superar el projecte cal obtindre un mínim de 5/10 i no tindre cap criteri amb qualificació d'insuficient</a:t>
            </a:r>
            <a:endParaRPr b="0" lang="ca-ES-valencia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1"/>
          <p:cNvSpPr/>
          <p:nvPr/>
        </p:nvSpPr>
        <p:spPr>
          <a:xfrm>
            <a:off x="457200" y="64008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6200" spc="-1" strike="noStrike">
                <a:solidFill>
                  <a:srgbClr val="ffffff"/>
                </a:solidFill>
                <a:latin typeface="Calibri"/>
              </a:rPr>
              <a:t>Endavant!</a:t>
            </a:r>
            <a:endParaRPr b="0" lang="ca-ES-valencia" sz="6200" spc="-1" strike="noStrike">
              <a:latin typeface="Arial"/>
            </a:endParaRPr>
          </a:p>
        </p:txBody>
      </p:sp>
      <p:sp>
        <p:nvSpPr>
          <p:cNvPr id="317" name="Text 2"/>
          <p:cNvSpPr/>
          <p:nvPr/>
        </p:nvSpPr>
        <p:spPr>
          <a:xfrm>
            <a:off x="731520" y="2011680"/>
            <a:ext cx="7680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ca-ES-valencia" sz="1800" spc="-1" strike="noStrike">
                <a:solidFill>
                  <a:srgbClr val="a8d4f0"/>
                </a:solidFill>
                <a:latin typeface="Calibri"/>
              </a:rPr>
              <a:t>Prepara't per construir una aplicació web completa</a:t>
            </a:r>
            <a:endParaRPr b="0" lang="ca-ES-valenci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ca-ES-valencia" sz="1800" spc="-1" strike="noStrike">
                <a:solidFill>
                  <a:srgbClr val="a8d4f0"/>
                </a:solidFill>
                <a:latin typeface="Calibri"/>
              </a:rPr>
              <a:t>que pot marcar la diferència al teu municipi.</a:t>
            </a:r>
            <a:endParaRPr b="0" lang="ca-ES-valencia" sz="1800" spc="-1" strike="noStrike">
              <a:latin typeface="Arial"/>
            </a:endParaRPr>
          </a:p>
        </p:txBody>
      </p:sp>
      <p:sp>
        <p:nvSpPr>
          <p:cNvPr id="318" name="Shape 3"/>
          <p:cNvSpPr/>
          <p:nvPr/>
        </p:nvSpPr>
        <p:spPr>
          <a:xfrm>
            <a:off x="1463040" y="3200400"/>
            <a:ext cx="1096920" cy="1096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19" name="Image 0" descr="preencoded.png"/>
          <p:cNvPicPr/>
          <p:nvPr/>
        </p:nvPicPr>
        <p:blipFill>
          <a:blip r:embed="rId1"/>
          <a:stretch/>
        </p:blipFill>
        <p:spPr>
          <a:xfrm>
            <a:off x="1627560" y="336492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20" name="Text 4"/>
          <p:cNvSpPr/>
          <p:nvPr/>
        </p:nvSpPr>
        <p:spPr>
          <a:xfrm>
            <a:off x="731520" y="43707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200" spc="-1" strike="noStrike">
                <a:solidFill>
                  <a:srgbClr val="a8d4f0"/>
                </a:solidFill>
                <a:latin typeface="Calibri"/>
              </a:rPr>
              <a:t>Aprendràs les</a:t>
            </a:r>
            <a:endParaRPr b="0" lang="ca-ES-valencia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200" spc="-1" strike="noStrike">
                <a:solidFill>
                  <a:srgbClr val="a8d4f0"/>
                </a:solidFill>
                <a:latin typeface="Calibri"/>
              </a:rPr>
              <a:t>tecnologies del sector</a:t>
            </a:r>
            <a:endParaRPr b="0" lang="ca-ES-valencia" sz="1200" spc="-1" strike="noStrike">
              <a:latin typeface="Arial"/>
            </a:endParaRPr>
          </a:p>
        </p:txBody>
      </p:sp>
      <p:sp>
        <p:nvSpPr>
          <p:cNvPr id="321" name="Shape 5"/>
          <p:cNvSpPr/>
          <p:nvPr/>
        </p:nvSpPr>
        <p:spPr>
          <a:xfrm>
            <a:off x="4297680" y="3200400"/>
            <a:ext cx="1096920" cy="1096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22" name="Image 1" descr="preencoded.png"/>
          <p:cNvPicPr/>
          <p:nvPr/>
        </p:nvPicPr>
        <p:blipFill>
          <a:blip r:embed="rId2"/>
          <a:stretch/>
        </p:blipFill>
        <p:spPr>
          <a:xfrm>
            <a:off x="4462200" y="336492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23" name="Text 6"/>
          <p:cNvSpPr/>
          <p:nvPr/>
        </p:nvSpPr>
        <p:spPr>
          <a:xfrm>
            <a:off x="3566160" y="43707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200" spc="-1" strike="noStrike">
                <a:solidFill>
                  <a:srgbClr val="a8d4f0"/>
                </a:solidFill>
                <a:latin typeface="Calibri"/>
              </a:rPr>
              <a:t>Treballaràs en equip</a:t>
            </a:r>
            <a:endParaRPr b="0" lang="ca-ES-valencia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200" spc="-1" strike="noStrike">
                <a:solidFill>
                  <a:srgbClr val="a8d4f0"/>
                </a:solidFill>
                <a:latin typeface="Calibri"/>
              </a:rPr>
              <a:t>com els professionals</a:t>
            </a:r>
            <a:endParaRPr b="0" lang="ca-ES-valencia" sz="1200" spc="-1" strike="noStrike">
              <a:latin typeface="Arial"/>
            </a:endParaRPr>
          </a:p>
        </p:txBody>
      </p:sp>
      <p:sp>
        <p:nvSpPr>
          <p:cNvPr id="324" name="Shape 7"/>
          <p:cNvSpPr/>
          <p:nvPr/>
        </p:nvSpPr>
        <p:spPr>
          <a:xfrm>
            <a:off x="7132320" y="3200400"/>
            <a:ext cx="1096920" cy="1096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25" name="Image 2" descr="preencoded.png"/>
          <p:cNvPicPr/>
          <p:nvPr/>
        </p:nvPicPr>
        <p:blipFill>
          <a:blip r:embed="rId3"/>
          <a:stretch/>
        </p:blipFill>
        <p:spPr>
          <a:xfrm>
            <a:off x="7296840" y="336492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26" name="Text 8"/>
          <p:cNvSpPr/>
          <p:nvPr/>
        </p:nvSpPr>
        <p:spPr>
          <a:xfrm>
            <a:off x="6400800" y="43707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200" spc="-1" strike="noStrike">
                <a:solidFill>
                  <a:srgbClr val="a8d4f0"/>
                </a:solidFill>
                <a:latin typeface="Calibri"/>
              </a:rPr>
              <a:t>Crearàs quelcom amb</a:t>
            </a:r>
            <a:endParaRPr b="0" lang="ca-ES-valencia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-valencia" sz="1200" spc="-1" strike="noStrike">
                <a:solidFill>
                  <a:srgbClr val="a8d4f0"/>
                </a:solidFill>
                <a:latin typeface="Calibri"/>
              </a:rPr>
              <a:t>impacte real</a:t>
            </a:r>
            <a:endParaRPr b="0" lang="ca-ES-valencia" sz="1200" spc="-1" strike="noStrike">
              <a:latin typeface="Arial"/>
            </a:endParaRPr>
          </a:p>
        </p:txBody>
      </p:sp>
      <p:sp>
        <p:nvSpPr>
          <p:cNvPr id="327" name="Shape 9"/>
          <p:cNvSpPr/>
          <p:nvPr/>
        </p:nvSpPr>
        <p:spPr>
          <a:xfrm>
            <a:off x="0" y="5001840"/>
            <a:ext cx="9143640" cy="14148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10"/>
          <p:cNvSpPr/>
          <p:nvPr/>
        </p:nvSpPr>
        <p:spPr>
          <a:xfrm>
            <a:off x="0" y="5001840"/>
            <a:ext cx="914364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ca-ES-valencia" sz="900" spc="-1" strike="noStrike">
                <a:solidFill>
                  <a:srgbClr val="0f2236"/>
                </a:solidFill>
                <a:latin typeface="Calibri"/>
              </a:rPr>
              <a:t>Mòdul 0612 — Desenvolupament Web en Entorn Client · CFGS DAW</a:t>
            </a:r>
            <a:endParaRPr b="0" lang="ca-ES-valencia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2026-06-02T11:05:42Z</dcterms:created>
  <dc:creator>PptxGenJS</dc:creator>
  <dc:description/>
  <dc:language>ca-ES-valencia</dc:language>
  <cp:lastModifiedBy>Josep Palmero</cp:lastModifiedBy>
  <dcterms:modified xsi:type="dcterms:W3CDTF">2026-06-02T13:17:15Z</dcterms:modified>
  <cp:revision>2</cp:revision>
  <dc:subject>PptxGenJS Presentation</dc:subject>
  <dc:title>SAComercLocal — Projecte DWEC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