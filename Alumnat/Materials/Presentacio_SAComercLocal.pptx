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desplazar la diapositiva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72F0941-DDF8-4641-B659-2FC5775414F9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A2261D-5ECF-4A4B-81F0-6DEE3F15736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8DCB2B-67B2-47E6-B1AC-4E9906ED3A8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DF6110-6DF6-4793-BF40-38F8F2109AA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15AD65-7969-4A5F-8FFB-3D8F56DEA9B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4BF0FB-3F62-4E29-A18A-A6B17A24FE7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-valencia" sz="1200" strike="noStrike" u="non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3D4C7F-5052-4C75-9945-4F3FB9998BB6}" type="slidenum">
              <a:rPr b="0" lang="ca-ES-valencia" sz="1200" strike="noStrike" u="non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-valencia" sz="1200" strike="noStrike" u="none">
                <a:solidFill>
                  <a:srgbClr val="000000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02C3BD-27AD-4254-89D3-3F0661EFE88B}" type="slidenum">
              <a:rPr b="0" lang="ca-ES-valencia" sz="1200" strike="noStrike" u="non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F75229-C1EB-4EB5-AFAD-C59466111AB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0AA266-A69E-498B-BD22-59796633995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42DA5F-6AD4-4667-ACA2-BA54ED79396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95FBB0-5D06-4E63-AE19-B09E63350FC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3.png"/><Relationship Id="rId9" Type="http://schemas.openxmlformats.org/officeDocument/2006/relationships/image" Target="../media/image7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27880" cy="5142960"/>
          </a:xfrm>
          <a:prstGeom prst="rect">
            <a:avLst/>
          </a:prstGeom>
          <a:solidFill>
            <a:srgbClr val="2e86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583680" y="0"/>
            <a:ext cx="2559600" cy="5142960"/>
          </a:xfrm>
          <a:prstGeom prst="rect">
            <a:avLst/>
          </a:prstGeom>
          <a:solidFill>
            <a:srgbClr val="1b4f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858000" y="3657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7360920" y="3657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7863840" y="3657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8366760" y="3657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6858000" y="12801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7360920" y="12801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863840" y="12801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8366760" y="12801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6858000" y="21945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7360920" y="21945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7863840" y="21945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8366760" y="21945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6858000" y="31089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7360920" y="31089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7863840" y="31089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8366760" y="31089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6858000" y="40233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7360920" y="40233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7863840" y="40233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8366760" y="4023360"/>
            <a:ext cx="109080" cy="109080"/>
          </a:xfrm>
          <a:prstGeom prst="ellipse">
            <a:avLst/>
          </a:prstGeom>
          <a:solidFill>
            <a:srgbClr val="2e86ab">
              <a:alpha val="50000"/>
            </a:srgbClr>
          </a:solidFill>
          <a:ln w="127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548640" y="411480"/>
            <a:ext cx="2742480" cy="346680"/>
          </a:xfrm>
          <a:prstGeom prst="rect">
            <a:avLst/>
          </a:prstGeom>
          <a:solidFill>
            <a:srgbClr val="2e86ab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548640" y="41148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Mòdul 0612 · DAW · DWEC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502920" y="1005840"/>
            <a:ext cx="585144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 Comerç Local</a:t>
            </a:r>
            <a:endParaRPr b="0" lang="es-ES" sz="5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502920" y="2148840"/>
            <a:ext cx="5851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a8dadc"/>
                </a:solidFill>
                <a:effectLst/>
                <a:uFillTx/>
                <a:latin typeface="Calibri"/>
              </a:rPr>
              <a:t>Projecte de Desenvolupament Web en Entorn Client</a:t>
            </a: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502920" y="27432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Normativa · Competències · Metodologia · Continguts</a:t>
            </a:r>
            <a:endParaRPr b="0" lang="es-E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0" y="4480560"/>
            <a:ext cx="9143280" cy="662400"/>
          </a:xfrm>
          <a:prstGeom prst="rect">
            <a:avLst/>
          </a:prstGeom>
          <a:solidFill>
            <a:srgbClr val="1b4f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457200" y="4480560"/>
            <a:ext cx="8228880" cy="6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dadc"/>
                </a:solidFill>
                <a:effectLst/>
                <a:uFillTx/>
                <a:latin typeface="Calibri"/>
              </a:rPr>
              <a:t>RD 405/2023 · Cicle Formatiu de Grau Superior en Desenvolupament d'Aplicacions Web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6628680" y="914400"/>
            <a:ext cx="2284920" cy="2284920"/>
          </a:xfrm>
          <a:prstGeom prst="ellipse">
            <a:avLst/>
          </a:prstGeom>
          <a:solidFill>
            <a:srgbClr val="0d2b45">
              <a:alpha val="70000"/>
            </a:srgbClr>
          </a:solidFill>
          <a:ln w="12600">
            <a:solidFill>
              <a:srgbClr val="0d2b45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5"/>
          <p:cNvSpPr/>
          <p:nvPr/>
        </p:nvSpPr>
        <p:spPr>
          <a:xfrm>
            <a:off x="6994440" y="1280160"/>
            <a:ext cx="1553400" cy="1553400"/>
          </a:xfrm>
          <a:prstGeom prst="ellipse">
            <a:avLst/>
          </a:prstGeom>
          <a:solidFill>
            <a:srgbClr val="2e86ab">
              <a:alpha val="50000"/>
            </a:srgbClr>
          </a:solidFill>
          <a:ln w="12600">
            <a:solidFill>
              <a:srgbClr val="2e86a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0" descr="preencoded.png"/>
          <p:cNvPicPr/>
          <p:nvPr/>
        </p:nvPicPr>
        <p:blipFill>
          <a:blip r:embed="rId1"/>
          <a:stretch/>
        </p:blipFill>
        <p:spPr>
          <a:xfrm>
            <a:off x="7131600" y="1417320"/>
            <a:ext cx="1279080" cy="127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Marc Normatiu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8dadc"/>
                </a:solidFill>
                <a:effectLst/>
                <a:uFillTx/>
                <a:latin typeface="Calibri"/>
              </a:rPr>
              <a:t>Reial Decret 405/2023, de 29 de maig</a:t>
            </a:r>
            <a:endParaRPr b="0" lang="es-E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"/>
          <p:cNvSpPr/>
          <p:nvPr/>
        </p:nvSpPr>
        <p:spPr>
          <a:xfrm>
            <a:off x="365760" y="1097280"/>
            <a:ext cx="4022640" cy="3382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4"/>
          <p:cNvSpPr/>
          <p:nvPr/>
        </p:nvSpPr>
        <p:spPr>
          <a:xfrm>
            <a:off x="365760" y="1097280"/>
            <a:ext cx="4022640" cy="410760"/>
          </a:xfrm>
          <a:prstGeom prst="rect">
            <a:avLst/>
          </a:prstGeom>
          <a:solidFill>
            <a:srgbClr val="2e86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365760" y="1097280"/>
            <a:ext cx="4022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📋  RD 405/2023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502920" y="1600200"/>
            <a:ext cx="374832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Estableix el títol de </a:t>
            </a:r>
            <a:r>
              <a:rPr b="1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Tècnic/a Superior en DAW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Defineix les competències professionals, personals i socials del títol.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Art. 5 — Competències professionals: treball en equip, autonomia, comunicació, documentació i gestió de la qualitat.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4754880" y="1097280"/>
            <a:ext cx="4022640" cy="3382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4754880" y="1097280"/>
            <a:ext cx="4022640" cy="410760"/>
          </a:xfrm>
          <a:prstGeom prst="rect">
            <a:avLst/>
          </a:prstGeom>
          <a:solidFill>
            <a:srgbClr val="e07b3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4754880" y="1097280"/>
            <a:ext cx="4022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📘  Mòdul 0612 — DWEC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4892040" y="1600200"/>
            <a:ext cx="374832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Desenvolupament Web en Entorn Client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22 setmanes · 5 sprints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7 Resultats d'Aprenentatge (RA1–RA7)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Des de l'anàlisi de clients web fins a la comunicació asíncrona amb APIs.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0" y="4754880"/>
            <a:ext cx="9143280" cy="3880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365760" y="4754880"/>
            <a:ext cx="841176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Competències del títol definides al BOE-A-2023-13221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Resultats d'Aprenentatge (RA)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274320" y="1051560"/>
            <a:ext cx="4205520" cy="776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274320" y="1051560"/>
            <a:ext cx="639360" cy="776520"/>
          </a:xfrm>
          <a:prstGeom prst="rect">
            <a:avLst/>
          </a:prstGeom>
          <a:solidFill>
            <a:srgbClr val="1a6b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274320" y="1051560"/>
            <a:ext cx="639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RA1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1005840" y="1051560"/>
            <a:ext cx="3382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Anàlisi d'una app web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274320" y="2011680"/>
            <a:ext cx="4205520" cy="776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274320" y="2011680"/>
            <a:ext cx="639360" cy="776520"/>
          </a:xfrm>
          <a:prstGeom prst="rect">
            <a:avLst/>
          </a:prstGeom>
          <a:solidFill>
            <a:srgbClr val="2d7d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274320" y="2011680"/>
            <a:ext cx="639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RA2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1005840" y="2011680"/>
            <a:ext cx="3382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Programació JavaScript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274320" y="2971800"/>
            <a:ext cx="4205520" cy="776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274320" y="2971800"/>
            <a:ext cx="639360" cy="776520"/>
          </a:xfrm>
          <a:prstGeom prst="rect">
            <a:avLst/>
          </a:prstGeom>
          <a:solidFill>
            <a:srgbClr val="7b3f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274320" y="2971800"/>
            <a:ext cx="639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RA3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1005840" y="2971800"/>
            <a:ext cx="3382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Objectes predefinits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4"/>
          <p:cNvSpPr/>
          <p:nvPr/>
        </p:nvSpPr>
        <p:spPr>
          <a:xfrm>
            <a:off x="274320" y="3931920"/>
            <a:ext cx="4205520" cy="776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274320" y="3931920"/>
            <a:ext cx="639360" cy="776520"/>
          </a:xfrm>
          <a:prstGeom prst="rect">
            <a:avLst/>
          </a:prstGeom>
          <a:solidFill>
            <a:srgbClr val="b558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274320" y="3931920"/>
            <a:ext cx="639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RA4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1005840" y="3931920"/>
            <a:ext cx="3382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Orientació a objectes i funcions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8"/>
          <p:cNvSpPr/>
          <p:nvPr/>
        </p:nvSpPr>
        <p:spPr>
          <a:xfrm>
            <a:off x="4800600" y="1051560"/>
            <a:ext cx="4205520" cy="776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4800600" y="1051560"/>
            <a:ext cx="639360" cy="776520"/>
          </a:xfrm>
          <a:prstGeom prst="rect">
            <a:avLst/>
          </a:prstGeom>
          <a:solidFill>
            <a:srgbClr val="a816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0"/>
          <p:cNvSpPr/>
          <p:nvPr/>
        </p:nvSpPr>
        <p:spPr>
          <a:xfrm>
            <a:off x="4800600" y="1051560"/>
            <a:ext cx="639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RA5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5532120" y="1051560"/>
            <a:ext cx="3382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Esdeveniments i formularis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2"/>
          <p:cNvSpPr/>
          <p:nvPr/>
        </p:nvSpPr>
        <p:spPr>
          <a:xfrm>
            <a:off x="4800600" y="2011680"/>
            <a:ext cx="4205520" cy="776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3"/>
          <p:cNvSpPr/>
          <p:nvPr/>
        </p:nvSpPr>
        <p:spPr>
          <a:xfrm>
            <a:off x="4800600" y="2011680"/>
            <a:ext cx="639360" cy="776520"/>
          </a:xfrm>
          <a:prstGeom prst="rect">
            <a:avLst/>
          </a:prstGeom>
          <a:solidFill>
            <a:srgbClr val="1b5e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4"/>
          <p:cNvSpPr/>
          <p:nvPr/>
        </p:nvSpPr>
        <p:spPr>
          <a:xfrm>
            <a:off x="4800600" y="2011680"/>
            <a:ext cx="639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RA6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5"/>
          <p:cNvSpPr/>
          <p:nvPr/>
        </p:nvSpPr>
        <p:spPr>
          <a:xfrm>
            <a:off x="5532120" y="2011680"/>
            <a:ext cx="3382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Model d'objectes (DOM)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6"/>
          <p:cNvSpPr/>
          <p:nvPr/>
        </p:nvSpPr>
        <p:spPr>
          <a:xfrm>
            <a:off x="4800600" y="2971800"/>
            <a:ext cx="4205520" cy="7765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7"/>
          <p:cNvSpPr/>
          <p:nvPr/>
        </p:nvSpPr>
        <p:spPr>
          <a:xfrm>
            <a:off x="4800600" y="2971800"/>
            <a:ext cx="639360" cy="776520"/>
          </a:xfrm>
          <a:prstGeom prst="rect">
            <a:avLst/>
          </a:prstGeom>
          <a:solidFill>
            <a:srgbClr val="1f6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8"/>
          <p:cNvSpPr/>
          <p:nvPr/>
        </p:nvSpPr>
        <p:spPr>
          <a:xfrm>
            <a:off x="4800600" y="2971800"/>
            <a:ext cx="6393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RA7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9"/>
          <p:cNvSpPr/>
          <p:nvPr/>
        </p:nvSpPr>
        <p:spPr>
          <a:xfrm>
            <a:off x="5532120" y="2971800"/>
            <a:ext cx="3382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Comunicació asíncrona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0"/>
          <p:cNvSpPr/>
          <p:nvPr/>
        </p:nvSpPr>
        <p:spPr>
          <a:xfrm>
            <a:off x="0" y="4754880"/>
            <a:ext cx="9143280" cy="3880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1"/>
          <p:cNvSpPr/>
          <p:nvPr/>
        </p:nvSpPr>
        <p:spPr>
          <a:xfrm>
            <a:off x="365760" y="4754880"/>
            <a:ext cx="841176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Cada sprint treballa criteris específics de cada RA · Avaluació contínua per entregables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3200400" y="-1371600"/>
            <a:ext cx="7314480" cy="7314480"/>
          </a:xfrm>
          <a:prstGeom prst="ellipse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57200" y="1097280"/>
            <a:ext cx="8228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El Projecte</a:t>
            </a:r>
            <a:endParaRPr b="0" lang="es-ES" sz="5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457200" y="228600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400" strike="noStrike" u="none">
                <a:solidFill>
                  <a:srgbClr val="a8dadc"/>
                </a:solidFill>
                <a:effectLst/>
                <a:uFillTx/>
                <a:latin typeface="Calibri"/>
              </a:rPr>
              <a:t>SA Comerç Local</a:t>
            </a:r>
            <a:endParaRPr b="0" lang="es-E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914400" y="301752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0f4f8"/>
                </a:solidFill>
                <a:effectLst/>
                <a:uFillTx/>
                <a:latin typeface="Calibri"/>
              </a:rPr>
              <a:t>Una plataforma web real per donar visibilitat al comerç local del municipi</a:t>
            </a:r>
            <a:endParaRPr b="0" lang="es-E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457200" y="3931920"/>
            <a:ext cx="1553760" cy="410760"/>
          </a:xfrm>
          <a:prstGeom prst="roundRect">
            <a:avLst>
              <a:gd name="adj" fmla="val 22222"/>
            </a:avLst>
          </a:prstGeom>
          <a:solidFill>
            <a:srgbClr val="2e86ab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457200" y="3931920"/>
            <a:ext cx="1553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React + Vite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2148840" y="3931920"/>
            <a:ext cx="1553760" cy="410760"/>
          </a:xfrm>
          <a:prstGeom prst="roundRect">
            <a:avLst>
              <a:gd name="adj" fmla="val 22222"/>
            </a:avLst>
          </a:prstGeom>
          <a:solidFill>
            <a:srgbClr val="2e86ab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2148840" y="3931920"/>
            <a:ext cx="1553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JavaScript ES6+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3840480" y="3931920"/>
            <a:ext cx="1553760" cy="410760"/>
          </a:xfrm>
          <a:prstGeom prst="roundRect">
            <a:avLst>
              <a:gd name="adj" fmla="val 22222"/>
            </a:avLst>
          </a:prstGeom>
          <a:solidFill>
            <a:srgbClr val="2e86ab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3840480" y="3931920"/>
            <a:ext cx="1553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Git / GitHub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0"/>
          <p:cNvSpPr/>
          <p:nvPr/>
        </p:nvSpPr>
        <p:spPr>
          <a:xfrm>
            <a:off x="5532120" y="3931920"/>
            <a:ext cx="1553760" cy="410760"/>
          </a:xfrm>
          <a:prstGeom prst="roundRect">
            <a:avLst>
              <a:gd name="adj" fmla="val 22222"/>
            </a:avLst>
          </a:prstGeom>
          <a:solidFill>
            <a:srgbClr val="2e86ab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5532120" y="3931920"/>
            <a:ext cx="1553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Trello Kanban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7223760" y="3931920"/>
            <a:ext cx="1553760" cy="410760"/>
          </a:xfrm>
          <a:prstGeom prst="roundRect">
            <a:avLst>
              <a:gd name="adj" fmla="val 22222"/>
            </a:avLst>
          </a:prstGeom>
          <a:solidFill>
            <a:srgbClr val="2e86ab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7223760" y="3931920"/>
            <a:ext cx="1553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APIs &amp; Mapes</a:t>
            </a:r>
            <a:endParaRPr b="0" lang="es-E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0" y="4754880"/>
            <a:ext cx="9143280" cy="388080"/>
          </a:xfrm>
          <a:prstGeom prst="rect">
            <a:avLst/>
          </a:prstGeom>
          <a:solidFill>
            <a:srgbClr val="1b4f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365760" y="4754880"/>
            <a:ext cx="841176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dadc"/>
                </a:solidFill>
                <a:effectLst/>
                <a:uFillTx/>
                <a:latin typeface="Calibri"/>
              </a:rPr>
              <a:t>Treball en equip de 3-4 persones · 22 setmanes · 5 sprints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Què construirem?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274320" y="1005840"/>
            <a:ext cx="2788200" cy="173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274320" y="1097280"/>
            <a:ext cx="2788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🗂️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365760" y="1691640"/>
            <a:ext cx="2605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Catàleg de comerços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365760" y="2057400"/>
            <a:ext cx="2605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Navegació per tots els comerços locals del municipi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3246120" y="1005840"/>
            <a:ext cx="2788200" cy="173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3246120" y="1097280"/>
            <a:ext cx="2788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📋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3337560" y="1691640"/>
            <a:ext cx="2605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Fitxes detallades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3337560" y="2057400"/>
            <a:ext cx="2605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Horaris, telèfon, descripció i ubicació del comerç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6217920" y="1005840"/>
            <a:ext cx="2788200" cy="173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6217920" y="1097280"/>
            <a:ext cx="2788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🔍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6309360" y="1691640"/>
            <a:ext cx="2605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Cerca i filtratge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6309360" y="2057400"/>
            <a:ext cx="2605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Buscar i filtrar per categories de manera dinàmica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4"/>
          <p:cNvSpPr/>
          <p:nvPr/>
        </p:nvSpPr>
        <p:spPr>
          <a:xfrm>
            <a:off x="1891800" y="2943360"/>
            <a:ext cx="2788200" cy="173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1800000" y="3060000"/>
            <a:ext cx="2788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📩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6"/>
          <p:cNvSpPr/>
          <p:nvPr/>
        </p:nvSpPr>
        <p:spPr>
          <a:xfrm>
            <a:off x="1891440" y="3654360"/>
            <a:ext cx="2605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Formulari de contacte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1891440" y="4020120"/>
            <a:ext cx="2605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Contactar amb establiments, amb validació de dades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8"/>
          <p:cNvSpPr/>
          <p:nvPr/>
        </p:nvSpPr>
        <p:spPr>
          <a:xfrm>
            <a:off x="4771800" y="2926080"/>
            <a:ext cx="2788200" cy="1736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9"/>
          <p:cNvSpPr/>
          <p:nvPr/>
        </p:nvSpPr>
        <p:spPr>
          <a:xfrm>
            <a:off x="4771800" y="3060000"/>
            <a:ext cx="2788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🗺️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0"/>
          <p:cNvSpPr/>
          <p:nvPr/>
        </p:nvSpPr>
        <p:spPr>
          <a:xfrm>
            <a:off x="4863240" y="3654360"/>
            <a:ext cx="2605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Mapa interactiu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1"/>
          <p:cNvSpPr/>
          <p:nvPr/>
        </p:nvSpPr>
        <p:spPr>
          <a:xfrm>
            <a:off x="4863240" y="4020120"/>
            <a:ext cx="2605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Veure la ubicació de cada comerç amb Leaflet 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2"/>
          <p:cNvSpPr/>
          <p:nvPr/>
        </p:nvSpPr>
        <p:spPr>
          <a:xfrm>
            <a:off x="0" y="4754880"/>
            <a:ext cx="9143280" cy="3880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3"/>
          <p:cNvSpPr/>
          <p:nvPr/>
        </p:nvSpPr>
        <p:spPr>
          <a:xfrm>
            <a:off x="365760" y="4754880"/>
            <a:ext cx="841176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Impacte real: molts xicotets negocis no tenen presència digital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56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a3c5e"/>
          </a:solidFill>
          <a:ln w="126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8" name="Shape 57"/>
          <p:cNvSpPr/>
          <p:nvPr/>
        </p:nvSpPr>
        <p:spPr>
          <a:xfrm>
            <a:off x="0" y="0"/>
            <a:ext cx="9142920" cy="63000"/>
          </a:xfrm>
          <a:prstGeom prst="rect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9" name="Text 56"/>
          <p:cNvSpPr/>
          <p:nvPr/>
        </p:nvSpPr>
        <p:spPr>
          <a:xfrm>
            <a:off x="365760" y="137160"/>
            <a:ext cx="84114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ca-ES-valencia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Com treballarem? Metodologia àgil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8"/>
          <p:cNvSpPr/>
          <p:nvPr/>
        </p:nvSpPr>
        <p:spPr>
          <a:xfrm>
            <a:off x="182880" y="1143000"/>
            <a:ext cx="1571760" cy="3565080"/>
          </a:xfrm>
          <a:prstGeom prst="rect">
            <a:avLst/>
          </a:prstGeom>
          <a:solidFill>
            <a:srgbClr val="f1f5f9"/>
          </a:solidFill>
          <a:ln w="12600">
            <a:solidFill>
              <a:srgbClr val="e2e8f0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" name="Shape 59"/>
          <p:cNvSpPr/>
          <p:nvPr/>
        </p:nvSpPr>
        <p:spPr>
          <a:xfrm>
            <a:off x="182880" y="1143000"/>
            <a:ext cx="1571760" cy="72000"/>
          </a:xfrm>
          <a:prstGeom prst="rect">
            <a:avLst/>
          </a:prstGeom>
          <a:solidFill>
            <a:srgbClr val="2e86ab"/>
          </a:solidFill>
          <a:ln w="126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2" name="Shape 60"/>
          <p:cNvSpPr/>
          <p:nvPr/>
        </p:nvSpPr>
        <p:spPr>
          <a:xfrm>
            <a:off x="621720" y="1298520"/>
            <a:ext cx="693720" cy="693720"/>
          </a:xfrm>
          <a:prstGeom prst="ellipse">
            <a:avLst/>
          </a:prstGeom>
          <a:solidFill>
            <a:srgbClr val="2e86ab"/>
          </a:solidFill>
          <a:ln w="126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33" name="Image 3" descr="preencoded.png"/>
          <p:cNvPicPr/>
          <p:nvPr/>
        </p:nvPicPr>
        <p:blipFill>
          <a:blip r:embed="rId1"/>
          <a:stretch/>
        </p:blipFill>
        <p:spPr>
          <a:xfrm>
            <a:off x="685800" y="136260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57"/>
          <p:cNvSpPr/>
          <p:nvPr/>
        </p:nvSpPr>
        <p:spPr>
          <a:xfrm>
            <a:off x="237600" y="2084760"/>
            <a:ext cx="1461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1100" strike="noStrike" u="none">
                <a:solidFill>
                  <a:srgbClr val="2e86ab"/>
                </a:solidFill>
                <a:effectLst/>
                <a:uFillTx/>
                <a:latin typeface="Calibri"/>
                <a:ea typeface="DejaVu Sans"/>
              </a:rPr>
              <a:t>Sprint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1100" strike="noStrike" u="none">
                <a:solidFill>
                  <a:srgbClr val="2e86ab"/>
                </a:solidFill>
                <a:effectLst/>
                <a:uFillTx/>
                <a:latin typeface="Calibri"/>
                <a:ea typeface="DejaVu Sans"/>
              </a:rPr>
              <a:t>Planning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8"/>
          <p:cNvSpPr/>
          <p:nvPr/>
        </p:nvSpPr>
        <p:spPr>
          <a:xfrm>
            <a:off x="237600" y="2743200"/>
            <a:ext cx="14619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ca-ES-valencia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DejaVu Sans"/>
              </a:rPr>
              <a:t>L'equip distribueix les tasques i assumeix rols</a:t>
            </a:r>
            <a:endParaRPr b="0" lang="es-E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4" descr="preencoded.png"/>
          <p:cNvPicPr/>
          <p:nvPr/>
        </p:nvPicPr>
        <p:blipFill>
          <a:blip r:embed="rId2"/>
          <a:stretch/>
        </p:blipFill>
        <p:spPr>
          <a:xfrm>
            <a:off x="1755720" y="2286000"/>
            <a:ext cx="19080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Shape 61"/>
          <p:cNvSpPr/>
          <p:nvPr/>
        </p:nvSpPr>
        <p:spPr>
          <a:xfrm>
            <a:off x="1947600" y="1143000"/>
            <a:ext cx="1571760" cy="3565080"/>
          </a:xfrm>
          <a:prstGeom prst="rect">
            <a:avLst/>
          </a:prstGeom>
          <a:solidFill>
            <a:srgbClr val="f1f5f9"/>
          </a:solidFill>
          <a:ln w="12600">
            <a:solidFill>
              <a:srgbClr val="e2e8f0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8" name="Shape 62"/>
          <p:cNvSpPr/>
          <p:nvPr/>
        </p:nvSpPr>
        <p:spPr>
          <a:xfrm>
            <a:off x="1947600" y="1143000"/>
            <a:ext cx="1571760" cy="72000"/>
          </a:xfrm>
          <a:prstGeom prst="rect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9" name="Shape 63"/>
          <p:cNvSpPr/>
          <p:nvPr/>
        </p:nvSpPr>
        <p:spPr>
          <a:xfrm>
            <a:off x="2386440" y="1298520"/>
            <a:ext cx="693720" cy="693720"/>
          </a:xfrm>
          <a:prstGeom prst="ellipse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0" name="Image 5" descr="preencoded.png"/>
          <p:cNvPicPr/>
          <p:nvPr/>
        </p:nvPicPr>
        <p:blipFill>
          <a:blip r:embed="rId3"/>
          <a:stretch/>
        </p:blipFill>
        <p:spPr>
          <a:xfrm>
            <a:off x="2450520" y="136260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59"/>
          <p:cNvSpPr/>
          <p:nvPr/>
        </p:nvSpPr>
        <p:spPr>
          <a:xfrm>
            <a:off x="2002680" y="2084760"/>
            <a:ext cx="1461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1100" strike="noStrike" u="none">
                <a:solidFill>
                  <a:srgbClr val="10b981"/>
                </a:solidFill>
                <a:effectLst/>
                <a:uFillTx/>
                <a:latin typeface="Calibri"/>
                <a:ea typeface="DejaVu Sans"/>
              </a:rPr>
              <a:t>Standup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1100" strike="noStrike" u="none">
                <a:solidFill>
                  <a:srgbClr val="10b981"/>
                </a:solidFill>
                <a:effectLst/>
                <a:uFillTx/>
                <a:latin typeface="Calibri"/>
                <a:ea typeface="DejaVu Sans"/>
              </a:rPr>
              <a:t>Diari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0"/>
          <p:cNvSpPr/>
          <p:nvPr/>
        </p:nvSpPr>
        <p:spPr>
          <a:xfrm>
            <a:off x="2002680" y="2743200"/>
            <a:ext cx="14619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ca-ES-valencia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DejaVu Sans"/>
              </a:rPr>
              <a:t>5-10 min: què vaig fer? Què faré? Bloqueigs?</a:t>
            </a:r>
            <a:endParaRPr b="0" lang="es-E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7" descr="preencoded.png"/>
          <p:cNvPicPr/>
          <p:nvPr/>
        </p:nvPicPr>
        <p:blipFill>
          <a:blip r:embed="rId4"/>
          <a:stretch/>
        </p:blipFill>
        <p:spPr>
          <a:xfrm>
            <a:off x="3520440" y="2286000"/>
            <a:ext cx="19080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Shape 64"/>
          <p:cNvSpPr/>
          <p:nvPr/>
        </p:nvSpPr>
        <p:spPr>
          <a:xfrm>
            <a:off x="3712320" y="1143000"/>
            <a:ext cx="1571760" cy="3565080"/>
          </a:xfrm>
          <a:prstGeom prst="rect">
            <a:avLst/>
          </a:prstGeom>
          <a:solidFill>
            <a:srgbClr val="f1f5f9"/>
          </a:solidFill>
          <a:ln w="12600">
            <a:solidFill>
              <a:srgbClr val="e2e8f0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5" name="Shape 65"/>
          <p:cNvSpPr/>
          <p:nvPr/>
        </p:nvSpPr>
        <p:spPr>
          <a:xfrm>
            <a:off x="3712320" y="1143000"/>
            <a:ext cx="1571760" cy="72000"/>
          </a:xfrm>
          <a:prstGeom prst="rect">
            <a:avLst/>
          </a:prstGeom>
          <a:solidFill>
            <a:srgbClr val="f18f01"/>
          </a:solidFill>
          <a:ln w="126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" name="Shape 66"/>
          <p:cNvSpPr/>
          <p:nvPr/>
        </p:nvSpPr>
        <p:spPr>
          <a:xfrm>
            <a:off x="4151520" y="1298520"/>
            <a:ext cx="693720" cy="693720"/>
          </a:xfrm>
          <a:prstGeom prst="ellipse">
            <a:avLst/>
          </a:prstGeom>
          <a:solidFill>
            <a:srgbClr val="f18f01"/>
          </a:solidFill>
          <a:ln w="126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7" name="Image 8" descr="preencoded.png"/>
          <p:cNvPicPr/>
          <p:nvPr/>
        </p:nvPicPr>
        <p:blipFill>
          <a:blip r:embed="rId5"/>
          <a:stretch/>
        </p:blipFill>
        <p:spPr>
          <a:xfrm>
            <a:off x="4215240" y="136260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61"/>
          <p:cNvSpPr/>
          <p:nvPr/>
        </p:nvSpPr>
        <p:spPr>
          <a:xfrm>
            <a:off x="3767400" y="2084760"/>
            <a:ext cx="1461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1100" strike="noStrike" u="none">
                <a:solidFill>
                  <a:srgbClr val="f18f01"/>
                </a:solidFill>
                <a:effectLst/>
                <a:uFillTx/>
                <a:latin typeface="Calibri"/>
                <a:ea typeface="DejaVu Sans"/>
              </a:rPr>
              <a:t>Desenvolupament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2"/>
          <p:cNvSpPr/>
          <p:nvPr/>
        </p:nvSpPr>
        <p:spPr>
          <a:xfrm>
            <a:off x="3767400" y="2743200"/>
            <a:ext cx="14619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ca-ES-valencia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DejaVu Sans"/>
              </a:rPr>
              <a:t>Programació, col·laboració i resolució de problemes</a:t>
            </a:r>
            <a:endParaRPr b="0" lang="es-E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18" descr="preencoded.png"/>
          <p:cNvPicPr/>
          <p:nvPr/>
        </p:nvPicPr>
        <p:blipFill>
          <a:blip r:embed="rId6"/>
          <a:stretch/>
        </p:blipFill>
        <p:spPr>
          <a:xfrm>
            <a:off x="5285160" y="2286000"/>
            <a:ext cx="19080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Shape 67"/>
          <p:cNvSpPr/>
          <p:nvPr/>
        </p:nvSpPr>
        <p:spPr>
          <a:xfrm>
            <a:off x="5477400" y="1143000"/>
            <a:ext cx="1571760" cy="3565080"/>
          </a:xfrm>
          <a:prstGeom prst="rect">
            <a:avLst/>
          </a:prstGeom>
          <a:solidFill>
            <a:srgbClr val="f1f5f9"/>
          </a:solidFill>
          <a:ln w="12600">
            <a:solidFill>
              <a:srgbClr val="e2e8f0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" name="Shape 68"/>
          <p:cNvSpPr/>
          <p:nvPr/>
        </p:nvSpPr>
        <p:spPr>
          <a:xfrm>
            <a:off x="5477400" y="1143000"/>
            <a:ext cx="1571760" cy="72000"/>
          </a:xfrm>
          <a:prstGeom prst="rect">
            <a:avLst/>
          </a:prstGeom>
          <a:solidFill>
            <a:srgbClr val="9b59b6"/>
          </a:solidFill>
          <a:ln w="126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" name="Shape 69"/>
          <p:cNvSpPr/>
          <p:nvPr/>
        </p:nvSpPr>
        <p:spPr>
          <a:xfrm>
            <a:off x="5916240" y="1298520"/>
            <a:ext cx="693720" cy="693720"/>
          </a:xfrm>
          <a:prstGeom prst="ellipse">
            <a:avLst/>
          </a:prstGeom>
          <a:solidFill>
            <a:srgbClr val="9b59b6"/>
          </a:solidFill>
          <a:ln w="126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4" name="Image 19" descr="preencoded.png"/>
          <p:cNvPicPr/>
          <p:nvPr/>
        </p:nvPicPr>
        <p:blipFill>
          <a:blip r:embed="rId7"/>
          <a:stretch/>
        </p:blipFill>
        <p:spPr>
          <a:xfrm>
            <a:off x="5980320" y="136260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63"/>
          <p:cNvSpPr/>
          <p:nvPr/>
        </p:nvSpPr>
        <p:spPr>
          <a:xfrm>
            <a:off x="5532120" y="2084760"/>
            <a:ext cx="1461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1100" strike="noStrike" u="none">
                <a:solidFill>
                  <a:srgbClr val="9b59b6"/>
                </a:solidFill>
                <a:effectLst/>
                <a:uFillTx/>
                <a:latin typeface="Calibri"/>
                <a:ea typeface="DejaVu Sans"/>
              </a:rPr>
              <a:t>Sprint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1100" strike="noStrike" u="none">
                <a:solidFill>
                  <a:srgbClr val="9b59b6"/>
                </a:solidFill>
                <a:effectLst/>
                <a:uFillTx/>
                <a:latin typeface="Calibri"/>
                <a:ea typeface="DejaVu Sans"/>
              </a:rPr>
              <a:t>Review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4"/>
          <p:cNvSpPr/>
          <p:nvPr/>
        </p:nvSpPr>
        <p:spPr>
          <a:xfrm>
            <a:off x="5532120" y="2743200"/>
            <a:ext cx="14619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ca-ES-valencia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DejaVu Sans"/>
              </a:rPr>
              <a:t>Demo del producte i feedback del professorat</a:t>
            </a:r>
            <a:endParaRPr b="0" lang="es-E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20" descr="preencoded.png"/>
          <p:cNvPicPr/>
          <p:nvPr/>
        </p:nvPicPr>
        <p:blipFill>
          <a:blip r:embed="rId8"/>
          <a:stretch/>
        </p:blipFill>
        <p:spPr>
          <a:xfrm>
            <a:off x="7049880" y="2286000"/>
            <a:ext cx="19080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Shape 70"/>
          <p:cNvSpPr/>
          <p:nvPr/>
        </p:nvSpPr>
        <p:spPr>
          <a:xfrm>
            <a:off x="7242120" y="1143000"/>
            <a:ext cx="1571760" cy="3565080"/>
          </a:xfrm>
          <a:prstGeom prst="rect">
            <a:avLst/>
          </a:prstGeom>
          <a:solidFill>
            <a:srgbClr val="f1f5f9"/>
          </a:solidFill>
          <a:ln w="12600">
            <a:solidFill>
              <a:srgbClr val="e2e8f0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9" name="Shape 71"/>
          <p:cNvSpPr/>
          <p:nvPr/>
        </p:nvSpPr>
        <p:spPr>
          <a:xfrm>
            <a:off x="7242120" y="1143000"/>
            <a:ext cx="1571760" cy="72000"/>
          </a:xfrm>
          <a:prstGeom prst="rect">
            <a:avLst/>
          </a:prstGeom>
          <a:solidFill>
            <a:srgbClr val="e74c3c"/>
          </a:solidFill>
          <a:ln w="126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0" name="Shape 72"/>
          <p:cNvSpPr/>
          <p:nvPr/>
        </p:nvSpPr>
        <p:spPr>
          <a:xfrm>
            <a:off x="7680960" y="1298520"/>
            <a:ext cx="693720" cy="693720"/>
          </a:xfrm>
          <a:prstGeom prst="ellipse">
            <a:avLst/>
          </a:prstGeom>
          <a:solidFill>
            <a:srgbClr val="e74c3c"/>
          </a:solidFill>
          <a:ln w="126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61" name="Image 21" descr="preencoded.png"/>
          <p:cNvPicPr/>
          <p:nvPr/>
        </p:nvPicPr>
        <p:blipFill>
          <a:blip r:embed="rId9"/>
          <a:stretch/>
        </p:blipFill>
        <p:spPr>
          <a:xfrm>
            <a:off x="7745040" y="1362600"/>
            <a:ext cx="565920" cy="56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 65"/>
          <p:cNvSpPr/>
          <p:nvPr/>
        </p:nvSpPr>
        <p:spPr>
          <a:xfrm>
            <a:off x="7296840" y="2084760"/>
            <a:ext cx="14619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1100" strike="noStrike" u="none">
                <a:solidFill>
                  <a:srgbClr val="e74c3c"/>
                </a:solidFill>
                <a:effectLst/>
                <a:uFillTx/>
                <a:latin typeface="Calibri"/>
                <a:ea typeface="DejaVu Sans"/>
              </a:rPr>
              <a:t>Retrospectiva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66"/>
          <p:cNvSpPr/>
          <p:nvPr/>
        </p:nvSpPr>
        <p:spPr>
          <a:xfrm>
            <a:off x="7296840" y="2743200"/>
            <a:ext cx="146196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ca-ES-valencia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DejaVu Sans"/>
              </a:rPr>
              <a:t>Reflexió: què ha funcionat i què cal millorar</a:t>
            </a:r>
            <a:endParaRPr b="0" lang="es-E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73"/>
          <p:cNvSpPr/>
          <p:nvPr/>
        </p:nvSpPr>
        <p:spPr>
          <a:xfrm>
            <a:off x="182880" y="4773240"/>
            <a:ext cx="8777160" cy="254880"/>
          </a:xfrm>
          <a:prstGeom prst="rect">
            <a:avLst/>
          </a:prstGeom>
          <a:solidFill>
            <a:srgbClr val="1a3c5e"/>
          </a:solidFill>
          <a:ln w="126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5" name="Text 67"/>
          <p:cNvSpPr/>
          <p:nvPr/>
        </p:nvSpPr>
        <p:spPr>
          <a:xfrm>
            <a:off x="182880" y="4773240"/>
            <a:ext cx="8777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22 setmanes · 5 sprints · Equips de 3-4 persones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36"/>
          <p:cNvSpPr/>
          <p:nvPr/>
        </p:nvSpPr>
        <p:spPr>
          <a:xfrm>
            <a:off x="0" y="0"/>
            <a:ext cx="9142920" cy="1004760"/>
          </a:xfrm>
          <a:prstGeom prst="rect">
            <a:avLst/>
          </a:prstGeom>
          <a:solidFill>
            <a:srgbClr val="1a3c5e"/>
          </a:solidFill>
          <a:ln w="12600">
            <a:solidFill>
              <a:srgbClr val="2e86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Shape 39"/>
          <p:cNvSpPr/>
          <p:nvPr/>
        </p:nvSpPr>
        <p:spPr>
          <a:xfrm>
            <a:off x="0" y="0"/>
            <a:ext cx="9142920" cy="63000"/>
          </a:xfrm>
          <a:prstGeom prst="rect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720" bIns="1872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8" name="Text 45"/>
          <p:cNvSpPr/>
          <p:nvPr/>
        </p:nvSpPr>
        <p:spPr>
          <a:xfrm>
            <a:off x="365760" y="137160"/>
            <a:ext cx="84114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ca-ES-valencia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Rols rotatius de l'equip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0"/>
          <p:cNvSpPr/>
          <p:nvPr/>
        </p:nvSpPr>
        <p:spPr>
          <a:xfrm>
            <a:off x="457200" y="1097280"/>
            <a:ext cx="2604960" cy="3042360"/>
          </a:xfrm>
          <a:prstGeom prst="rect">
            <a:avLst/>
          </a:prstGeom>
          <a:solidFill>
            <a:srgbClr val="fafcff"/>
          </a:solidFill>
          <a:ln w="12600">
            <a:solidFill>
              <a:srgbClr val="e2e8f0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0" name="Shape 41"/>
          <p:cNvSpPr/>
          <p:nvPr/>
        </p:nvSpPr>
        <p:spPr>
          <a:xfrm>
            <a:off x="457200" y="1097280"/>
            <a:ext cx="2604960" cy="72000"/>
          </a:xfrm>
          <a:prstGeom prst="rect">
            <a:avLst/>
          </a:prstGeom>
          <a:solidFill>
            <a:srgbClr val="2e86ab"/>
          </a:solidFill>
          <a:ln w="126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1" name="Shape 44"/>
          <p:cNvSpPr/>
          <p:nvPr/>
        </p:nvSpPr>
        <p:spPr>
          <a:xfrm>
            <a:off x="1371600" y="1207080"/>
            <a:ext cx="776160" cy="776160"/>
          </a:xfrm>
          <a:prstGeom prst="ellipse">
            <a:avLst/>
          </a:prstGeom>
          <a:solidFill>
            <a:srgbClr val="2e86ab"/>
          </a:solidFill>
          <a:ln w="126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72" name="Image 1" descr="preencoded.png"/>
          <p:cNvPicPr/>
          <p:nvPr/>
        </p:nvPicPr>
        <p:blipFill>
          <a:blip r:embed="rId1"/>
          <a:stretch/>
        </p:blipFill>
        <p:spPr>
          <a:xfrm>
            <a:off x="1444680" y="1280160"/>
            <a:ext cx="630000" cy="63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46"/>
          <p:cNvSpPr/>
          <p:nvPr/>
        </p:nvSpPr>
        <p:spPr>
          <a:xfrm>
            <a:off x="548640" y="2057400"/>
            <a:ext cx="2422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1600" strike="noStrike" u="none">
                <a:solidFill>
                  <a:srgbClr val="1a3c5e"/>
                </a:solidFill>
                <a:effectLst/>
                <a:uFillTx/>
                <a:latin typeface="Calibri"/>
                <a:ea typeface="DejaVu Sans"/>
              </a:rPr>
              <a:t>Scrum Master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5"/>
          <p:cNvSpPr/>
          <p:nvPr/>
        </p:nvSpPr>
        <p:spPr>
          <a:xfrm>
            <a:off x="1188720" y="2541960"/>
            <a:ext cx="1141920" cy="273240"/>
          </a:xfrm>
          <a:prstGeom prst="roundRect">
            <a:avLst>
              <a:gd name="adj" fmla="val 13333"/>
            </a:avLst>
          </a:prstGeom>
          <a:solidFill>
            <a:srgbClr val="1a3c5e">
              <a:alpha val="15000"/>
            </a:srgbClr>
          </a:solidFill>
          <a:ln w="12600">
            <a:solidFill>
              <a:srgbClr val="1a3c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5" name="Text 47"/>
          <p:cNvSpPr/>
          <p:nvPr/>
        </p:nvSpPr>
        <p:spPr>
          <a:xfrm>
            <a:off x="1188720" y="2541960"/>
            <a:ext cx="1141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900" strike="noStrike" u="none">
                <a:solidFill>
                  <a:srgbClr val="1a3c5e"/>
                </a:solidFill>
                <a:effectLst/>
                <a:uFillTx/>
                <a:latin typeface="Calibri"/>
                <a:ea typeface="DejaVu Sans"/>
              </a:rPr>
              <a:t>Lideratge</a:t>
            </a:r>
            <a:endParaRPr b="0" lang="es-E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8"/>
          <p:cNvSpPr/>
          <p:nvPr/>
        </p:nvSpPr>
        <p:spPr>
          <a:xfrm>
            <a:off x="567000" y="2907720"/>
            <a:ext cx="2394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ca-ES-valencia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DejaVu Sans"/>
              </a:rPr>
              <a:t>Coordina l'equip, facilita les reunions de Scrum i és l'enllaç amb el professorat. Assegura que el procés funciona.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6"/>
          <p:cNvSpPr/>
          <p:nvPr/>
        </p:nvSpPr>
        <p:spPr>
          <a:xfrm>
            <a:off x="3291840" y="1097280"/>
            <a:ext cx="2604960" cy="3042360"/>
          </a:xfrm>
          <a:prstGeom prst="rect">
            <a:avLst/>
          </a:prstGeom>
          <a:solidFill>
            <a:srgbClr val="fafcff"/>
          </a:solidFill>
          <a:ln w="12600">
            <a:solidFill>
              <a:srgbClr val="e2e8f0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8" name="Shape 47"/>
          <p:cNvSpPr/>
          <p:nvPr/>
        </p:nvSpPr>
        <p:spPr>
          <a:xfrm>
            <a:off x="3291840" y="1097280"/>
            <a:ext cx="2604960" cy="72000"/>
          </a:xfrm>
          <a:prstGeom prst="rect">
            <a:avLst/>
          </a:prstGeom>
          <a:solidFill>
            <a:srgbClr val="f18f01"/>
          </a:solidFill>
          <a:ln w="126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9" name="Shape 48"/>
          <p:cNvSpPr/>
          <p:nvPr/>
        </p:nvSpPr>
        <p:spPr>
          <a:xfrm>
            <a:off x="4206240" y="1207080"/>
            <a:ext cx="776160" cy="776160"/>
          </a:xfrm>
          <a:prstGeom prst="ellipse">
            <a:avLst/>
          </a:prstGeom>
          <a:solidFill>
            <a:srgbClr val="f18f01"/>
          </a:solidFill>
          <a:ln w="126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0" name="Image 2" descr="preencoded.png"/>
          <p:cNvPicPr/>
          <p:nvPr/>
        </p:nvPicPr>
        <p:blipFill>
          <a:blip r:embed="rId2"/>
          <a:stretch/>
        </p:blipFill>
        <p:spPr>
          <a:xfrm>
            <a:off x="4279320" y="1280160"/>
            <a:ext cx="630000" cy="63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 49"/>
          <p:cNvSpPr/>
          <p:nvPr/>
        </p:nvSpPr>
        <p:spPr>
          <a:xfrm>
            <a:off x="3383280" y="2057400"/>
            <a:ext cx="2422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1600" strike="noStrike" u="none">
                <a:solidFill>
                  <a:srgbClr val="f18f01"/>
                </a:solidFill>
                <a:effectLst/>
                <a:uFillTx/>
                <a:latin typeface="Calibri"/>
                <a:ea typeface="DejaVu Sans"/>
              </a:rPr>
              <a:t>UI / Disseny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49"/>
          <p:cNvSpPr/>
          <p:nvPr/>
        </p:nvSpPr>
        <p:spPr>
          <a:xfrm>
            <a:off x="4023360" y="2541960"/>
            <a:ext cx="1141920" cy="273240"/>
          </a:xfrm>
          <a:prstGeom prst="roundRect">
            <a:avLst>
              <a:gd name="adj" fmla="val 13333"/>
            </a:avLst>
          </a:prstGeom>
          <a:solidFill>
            <a:srgbClr val="f18f01">
              <a:alpha val="15000"/>
            </a:srgbClr>
          </a:solidFill>
          <a:ln w="12600">
            <a:solidFill>
              <a:srgbClr val="f18f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3" name="Text 50"/>
          <p:cNvSpPr/>
          <p:nvPr/>
        </p:nvSpPr>
        <p:spPr>
          <a:xfrm>
            <a:off x="4023360" y="2541960"/>
            <a:ext cx="1141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900" strike="noStrike" u="none">
                <a:solidFill>
                  <a:srgbClr val="f18f01"/>
                </a:solidFill>
                <a:effectLst/>
                <a:uFillTx/>
                <a:latin typeface="Calibri"/>
                <a:ea typeface="DejaVu Sans"/>
              </a:rPr>
              <a:t>Creativitat</a:t>
            </a:r>
            <a:endParaRPr b="0" lang="es-E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1"/>
          <p:cNvSpPr/>
          <p:nvPr/>
        </p:nvSpPr>
        <p:spPr>
          <a:xfrm>
            <a:off x="3401640" y="2907720"/>
            <a:ext cx="2394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ca-ES-valencia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DejaVu Sans"/>
              </a:rPr>
              <a:t>Cuida l'aspecte visual i l'experiència d'usuari de la web. Vetlla per la coherència i usabilitat de la interfície.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50"/>
          <p:cNvSpPr/>
          <p:nvPr/>
        </p:nvSpPr>
        <p:spPr>
          <a:xfrm>
            <a:off x="6126480" y="1097280"/>
            <a:ext cx="2604960" cy="3042360"/>
          </a:xfrm>
          <a:prstGeom prst="rect">
            <a:avLst/>
          </a:prstGeom>
          <a:solidFill>
            <a:srgbClr val="fafcff"/>
          </a:solidFill>
          <a:ln w="12600">
            <a:solidFill>
              <a:srgbClr val="e2e8f0"/>
            </a:solidFill>
            <a:round/>
          </a:ln>
          <a:effectLst>
            <a:outerShdw blurRad="101520" dir="8100000" dist="37674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6" name="Shape 51"/>
          <p:cNvSpPr/>
          <p:nvPr/>
        </p:nvSpPr>
        <p:spPr>
          <a:xfrm>
            <a:off x="6126480" y="1097280"/>
            <a:ext cx="2604960" cy="72000"/>
          </a:xfrm>
          <a:prstGeom prst="rect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7720" bIns="2772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7" name="Shape 52"/>
          <p:cNvSpPr/>
          <p:nvPr/>
        </p:nvSpPr>
        <p:spPr>
          <a:xfrm>
            <a:off x="7040880" y="1207080"/>
            <a:ext cx="776160" cy="776160"/>
          </a:xfrm>
          <a:prstGeom prst="ellipse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8" name="Image 6" descr="preencoded.png"/>
          <p:cNvPicPr/>
          <p:nvPr/>
        </p:nvPicPr>
        <p:blipFill>
          <a:blip r:embed="rId3"/>
          <a:stretch/>
        </p:blipFill>
        <p:spPr>
          <a:xfrm>
            <a:off x="7113960" y="1280160"/>
            <a:ext cx="630000" cy="63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52"/>
          <p:cNvSpPr/>
          <p:nvPr/>
        </p:nvSpPr>
        <p:spPr>
          <a:xfrm>
            <a:off x="6217920" y="2057400"/>
            <a:ext cx="2422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1600" strike="noStrike" u="none">
                <a:solidFill>
                  <a:srgbClr val="10b981"/>
                </a:solidFill>
                <a:effectLst/>
                <a:uFillTx/>
                <a:latin typeface="Calibri"/>
                <a:ea typeface="DejaVu Sans"/>
              </a:rPr>
              <a:t>Documentador</a:t>
            </a:r>
            <a:endParaRPr b="0" lang="es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53"/>
          <p:cNvSpPr/>
          <p:nvPr/>
        </p:nvSpPr>
        <p:spPr>
          <a:xfrm>
            <a:off x="6858000" y="2541960"/>
            <a:ext cx="1141920" cy="273240"/>
          </a:xfrm>
          <a:prstGeom prst="roundRect">
            <a:avLst>
              <a:gd name="adj" fmla="val 13333"/>
            </a:avLst>
          </a:prstGeom>
          <a:solidFill>
            <a:srgbClr val="10b981">
              <a:alpha val="15000"/>
            </a:srgbClr>
          </a:solidFill>
          <a:ln w="126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1" name="Text 53"/>
          <p:cNvSpPr/>
          <p:nvPr/>
        </p:nvSpPr>
        <p:spPr>
          <a:xfrm>
            <a:off x="6858000" y="2541960"/>
            <a:ext cx="11419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ca-ES-valencia" sz="900" strike="noStrike" u="none">
                <a:solidFill>
                  <a:srgbClr val="10b981"/>
                </a:solidFill>
                <a:effectLst/>
                <a:uFillTx/>
                <a:latin typeface="Calibri"/>
                <a:ea typeface="DejaVu Sans"/>
              </a:rPr>
              <a:t>Organització</a:t>
            </a:r>
            <a:endParaRPr b="0" lang="es-E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4"/>
          <p:cNvSpPr/>
          <p:nvPr/>
        </p:nvSpPr>
        <p:spPr>
          <a:xfrm>
            <a:off x="6236280" y="2907720"/>
            <a:ext cx="2394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ca-ES-valencia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DejaVu Sans"/>
              </a:rPr>
              <a:t>Documenta les tasques desenvolupades, les decisions tècniques preses i el procés de treball de l'equip.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54"/>
          <p:cNvSpPr/>
          <p:nvPr/>
        </p:nvSpPr>
        <p:spPr>
          <a:xfrm>
            <a:off x="457200" y="4370040"/>
            <a:ext cx="8228520" cy="612360"/>
          </a:xfrm>
          <a:prstGeom prst="rect">
            <a:avLst/>
          </a:prstGeom>
          <a:solidFill>
            <a:srgbClr val="f1f5f9"/>
          </a:solidFill>
          <a:ln w="126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4" name="Text 55"/>
          <p:cNvSpPr/>
          <p:nvPr/>
        </p:nvSpPr>
        <p:spPr>
          <a:xfrm>
            <a:off x="457200" y="466344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ca-ES-valencia" sz="1050" strike="noStrike" u="none">
                <a:solidFill>
                  <a:srgbClr val="64748b"/>
                </a:solidFill>
                <a:effectLst/>
                <a:uFillTx/>
                <a:latin typeface="Calibri"/>
                <a:ea typeface="DejaVu Sans"/>
              </a:rPr>
              <a:t>Els rols canvien en cada Sprint — així tots podran experimentar totes les responsabilitats al llarg del projecte</a:t>
            </a:r>
            <a:endParaRPr b="0" lang="es-E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3023640" y="4464000"/>
            <a:ext cx="277272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ca-ES-valencia" sz="1050" strike="noStrike" u="none">
                <a:solidFill>
                  <a:srgbClr val="64748b"/>
                </a:solidFill>
                <a:effectLst/>
                <a:uFillTx/>
                <a:latin typeface="Calibri"/>
                <a:ea typeface="DejaVu Sans"/>
              </a:rPr>
              <a:t>El docent assumirà el rol de Product Owner (PO)</a:t>
            </a:r>
            <a:endParaRPr b="0" lang="es-E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Els 5 Sprints — 22 setmanes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"/>
          <p:cNvSpPr/>
          <p:nvPr/>
        </p:nvSpPr>
        <p:spPr>
          <a:xfrm>
            <a:off x="274320" y="1005840"/>
            <a:ext cx="1599480" cy="3199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3"/>
          <p:cNvSpPr/>
          <p:nvPr/>
        </p:nvSpPr>
        <p:spPr>
          <a:xfrm>
            <a:off x="274320" y="1005840"/>
            <a:ext cx="1599480" cy="502200"/>
          </a:xfrm>
          <a:prstGeom prst="rect">
            <a:avLst/>
          </a:prstGeom>
          <a:solidFill>
            <a:srgbClr val="1a6b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"/>
          <p:cNvSpPr/>
          <p:nvPr/>
        </p:nvSpPr>
        <p:spPr>
          <a:xfrm>
            <a:off x="274320" y="1005840"/>
            <a:ext cx="1599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S1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5"/>
          <p:cNvSpPr/>
          <p:nvPr/>
        </p:nvSpPr>
        <p:spPr>
          <a:xfrm>
            <a:off x="274320" y="155448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Setmanes: 1-2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6"/>
          <p:cNvSpPr/>
          <p:nvPr/>
        </p:nvSpPr>
        <p:spPr>
          <a:xfrm>
            <a:off x="365760" y="2011680"/>
            <a:ext cx="1416600" cy="17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7"/>
          <p:cNvSpPr/>
          <p:nvPr/>
        </p:nvSpPr>
        <p:spPr>
          <a:xfrm>
            <a:off x="320040" y="2103120"/>
            <a:ext cx="1508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6b8a"/>
                </a:solidFill>
                <a:effectLst/>
                <a:uFillTx/>
                <a:latin typeface="Calibri"/>
              </a:rPr>
              <a:t>Planificació i disseny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8"/>
          <p:cNvSpPr/>
          <p:nvPr/>
        </p:nvSpPr>
        <p:spPr>
          <a:xfrm>
            <a:off x="320040" y="2606040"/>
            <a:ext cx="15080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Entorn, wireframes, Scrum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9"/>
          <p:cNvSpPr/>
          <p:nvPr/>
        </p:nvSpPr>
        <p:spPr>
          <a:xfrm>
            <a:off x="2011680" y="1005840"/>
            <a:ext cx="1599480" cy="3199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0"/>
          <p:cNvSpPr/>
          <p:nvPr/>
        </p:nvSpPr>
        <p:spPr>
          <a:xfrm>
            <a:off x="2011680" y="1005840"/>
            <a:ext cx="1599480" cy="502200"/>
          </a:xfrm>
          <a:prstGeom prst="rect">
            <a:avLst/>
          </a:prstGeom>
          <a:solidFill>
            <a:srgbClr val="2d7d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2011680" y="1005840"/>
            <a:ext cx="1599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S2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2"/>
          <p:cNvSpPr/>
          <p:nvPr/>
        </p:nvSpPr>
        <p:spPr>
          <a:xfrm>
            <a:off x="2011680" y="155448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Microsoft YaHei"/>
              </a:rPr>
              <a:t>S</a:t>
            </a: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etmanes: 3-5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3"/>
          <p:cNvSpPr/>
          <p:nvPr/>
        </p:nvSpPr>
        <p:spPr>
          <a:xfrm>
            <a:off x="2103120" y="2011680"/>
            <a:ext cx="1416600" cy="17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4"/>
          <p:cNvSpPr/>
          <p:nvPr/>
        </p:nvSpPr>
        <p:spPr>
          <a:xfrm>
            <a:off x="2057400" y="2103120"/>
            <a:ext cx="1508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d7d46"/>
                </a:solidFill>
                <a:effectLst/>
                <a:uFillTx/>
                <a:latin typeface="Calibri"/>
              </a:rPr>
              <a:t>Estructura I maquetació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5"/>
          <p:cNvSpPr/>
          <p:nvPr/>
        </p:nvSpPr>
        <p:spPr>
          <a:xfrm>
            <a:off x="2057400" y="2606040"/>
            <a:ext cx="15080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HTML, React Router, components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6"/>
          <p:cNvSpPr/>
          <p:nvPr/>
        </p:nvSpPr>
        <p:spPr>
          <a:xfrm>
            <a:off x="3749040" y="1005840"/>
            <a:ext cx="1599480" cy="3199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7"/>
          <p:cNvSpPr/>
          <p:nvPr/>
        </p:nvSpPr>
        <p:spPr>
          <a:xfrm>
            <a:off x="3749040" y="1005840"/>
            <a:ext cx="1599480" cy="502200"/>
          </a:xfrm>
          <a:prstGeom prst="rect">
            <a:avLst/>
          </a:prstGeom>
          <a:solidFill>
            <a:srgbClr val="7b3f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8"/>
          <p:cNvSpPr/>
          <p:nvPr/>
        </p:nvSpPr>
        <p:spPr>
          <a:xfrm>
            <a:off x="3749040" y="1005840"/>
            <a:ext cx="1599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S3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9"/>
          <p:cNvSpPr/>
          <p:nvPr/>
        </p:nvSpPr>
        <p:spPr>
          <a:xfrm>
            <a:off x="3749040" y="155448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Setmanes: 6-12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0"/>
          <p:cNvSpPr/>
          <p:nvPr/>
        </p:nvSpPr>
        <p:spPr>
          <a:xfrm>
            <a:off x="3840480" y="2011680"/>
            <a:ext cx="1416600" cy="17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1"/>
          <p:cNvSpPr/>
          <p:nvPr/>
        </p:nvSpPr>
        <p:spPr>
          <a:xfrm>
            <a:off x="3794760" y="2103120"/>
            <a:ext cx="1508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b3f9e"/>
                </a:solidFill>
                <a:effectLst/>
                <a:uFillTx/>
                <a:latin typeface="Calibri"/>
              </a:rPr>
              <a:t>Lògica JavaScript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2"/>
          <p:cNvSpPr/>
          <p:nvPr/>
        </p:nvSpPr>
        <p:spPr>
          <a:xfrm>
            <a:off x="3794760" y="2606040"/>
            <a:ext cx="15080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Variables, arrays, filtres, cerca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3"/>
          <p:cNvSpPr/>
          <p:nvPr/>
        </p:nvSpPr>
        <p:spPr>
          <a:xfrm>
            <a:off x="5486400" y="1005840"/>
            <a:ext cx="1599480" cy="3199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4"/>
          <p:cNvSpPr/>
          <p:nvPr/>
        </p:nvSpPr>
        <p:spPr>
          <a:xfrm>
            <a:off x="5486400" y="1005840"/>
            <a:ext cx="1599480" cy="502200"/>
          </a:xfrm>
          <a:prstGeom prst="rect">
            <a:avLst/>
          </a:prstGeom>
          <a:solidFill>
            <a:srgbClr val="b558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5"/>
          <p:cNvSpPr/>
          <p:nvPr/>
        </p:nvSpPr>
        <p:spPr>
          <a:xfrm>
            <a:off x="5486400" y="1005840"/>
            <a:ext cx="1599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S4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6"/>
          <p:cNvSpPr/>
          <p:nvPr/>
        </p:nvSpPr>
        <p:spPr>
          <a:xfrm>
            <a:off x="5486400" y="155448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Microsoft YaHei"/>
              </a:rPr>
              <a:t>S</a:t>
            </a: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etmanes: 13-19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7"/>
          <p:cNvSpPr/>
          <p:nvPr/>
        </p:nvSpPr>
        <p:spPr>
          <a:xfrm>
            <a:off x="5577840" y="2011680"/>
            <a:ext cx="1416600" cy="17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8"/>
          <p:cNvSpPr/>
          <p:nvPr/>
        </p:nvSpPr>
        <p:spPr>
          <a:xfrm>
            <a:off x="5532120" y="2103120"/>
            <a:ext cx="1508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b5580a"/>
                </a:solidFill>
                <a:effectLst/>
                <a:uFillTx/>
                <a:latin typeface="Calibri"/>
              </a:rPr>
              <a:t>Interactivitat I DOM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9"/>
          <p:cNvSpPr/>
          <p:nvPr/>
        </p:nvSpPr>
        <p:spPr>
          <a:xfrm>
            <a:off x="5532120" y="2606040"/>
            <a:ext cx="15080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Esdeveniments, forms, localStorage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0"/>
          <p:cNvSpPr/>
          <p:nvPr/>
        </p:nvSpPr>
        <p:spPr>
          <a:xfrm>
            <a:off x="7223760" y="1005840"/>
            <a:ext cx="1599480" cy="3199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31"/>
          <p:cNvSpPr/>
          <p:nvPr/>
        </p:nvSpPr>
        <p:spPr>
          <a:xfrm>
            <a:off x="7223760" y="1005840"/>
            <a:ext cx="1599480" cy="502200"/>
          </a:xfrm>
          <a:prstGeom prst="rect">
            <a:avLst/>
          </a:prstGeom>
          <a:solidFill>
            <a:srgbClr val="1f6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2"/>
          <p:cNvSpPr/>
          <p:nvPr/>
        </p:nvSpPr>
        <p:spPr>
          <a:xfrm>
            <a:off x="7223760" y="1005840"/>
            <a:ext cx="1599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S5</a:t>
            </a: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3"/>
          <p:cNvSpPr/>
          <p:nvPr/>
        </p:nvSpPr>
        <p:spPr>
          <a:xfrm>
            <a:off x="7223760" y="1554480"/>
            <a:ext cx="159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Microsoft YaHei"/>
              </a:rPr>
              <a:t>S</a:t>
            </a: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etmanes:  20-22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34"/>
          <p:cNvSpPr/>
          <p:nvPr/>
        </p:nvSpPr>
        <p:spPr>
          <a:xfrm>
            <a:off x="7315200" y="2011680"/>
            <a:ext cx="1416600" cy="1764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35"/>
          <p:cNvSpPr/>
          <p:nvPr/>
        </p:nvSpPr>
        <p:spPr>
          <a:xfrm>
            <a:off x="7269480" y="2103120"/>
            <a:ext cx="1508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f6b3a"/>
                </a:solidFill>
                <a:effectLst/>
                <a:uFillTx/>
                <a:latin typeface="Calibri"/>
              </a:rPr>
              <a:t>Comunicació asíncrona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6"/>
          <p:cNvSpPr/>
          <p:nvPr/>
        </p:nvSpPr>
        <p:spPr>
          <a:xfrm>
            <a:off x="7269480" y="2606040"/>
            <a:ext cx="150804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Fetch API, JSON, mapes, presentació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7"/>
          <p:cNvSpPr/>
          <p:nvPr/>
        </p:nvSpPr>
        <p:spPr>
          <a:xfrm>
            <a:off x="0" y="4754880"/>
            <a:ext cx="9143280" cy="3880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8"/>
          <p:cNvSpPr/>
          <p:nvPr/>
        </p:nvSpPr>
        <p:spPr>
          <a:xfrm>
            <a:off x="365760" y="4754880"/>
            <a:ext cx="841176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Cada sprint: Planning · Standup diari · Desarrollo · Sprint Review + Retrospectiva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Tecnologies i eines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274320" y="1005840"/>
            <a:ext cx="201096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274320" y="1005840"/>
            <a:ext cx="2010960" cy="319320"/>
          </a:xfrm>
          <a:prstGeom prst="rect">
            <a:avLst/>
          </a:prstGeom>
          <a:solidFill>
            <a:srgbClr val="1a6b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274320" y="100584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Frontend</a:t>
            </a:r>
            <a:endParaRPr b="0" lang="es-E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274320" y="1353240"/>
            <a:ext cx="2010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⚛️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320040" y="2011680"/>
            <a:ext cx="1919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React + Vite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2450520" y="1005840"/>
            <a:ext cx="201096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2450520" y="1005840"/>
            <a:ext cx="2010960" cy="319320"/>
          </a:xfrm>
          <a:prstGeom prst="rect">
            <a:avLst/>
          </a:prstGeom>
          <a:solidFill>
            <a:srgbClr val="1a6b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2450520" y="100584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Navegació</a:t>
            </a:r>
            <a:endParaRPr b="0" lang="es-E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2450520" y="1353240"/>
            <a:ext cx="2010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🧭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2496240" y="2011680"/>
            <a:ext cx="1919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React Router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2"/>
          <p:cNvSpPr/>
          <p:nvPr/>
        </p:nvSpPr>
        <p:spPr>
          <a:xfrm>
            <a:off x="4626720" y="1005840"/>
            <a:ext cx="201096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4626720" y="1005840"/>
            <a:ext cx="2010960" cy="319320"/>
          </a:xfrm>
          <a:prstGeom prst="rect">
            <a:avLst/>
          </a:prstGeom>
          <a:solidFill>
            <a:srgbClr val="2d7d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4"/>
          <p:cNvSpPr/>
          <p:nvPr/>
        </p:nvSpPr>
        <p:spPr>
          <a:xfrm>
            <a:off x="4626720" y="100584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Lògica</a:t>
            </a:r>
            <a:endParaRPr b="0" lang="es-E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4626720" y="1353240"/>
            <a:ext cx="2010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📜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4672440" y="2011680"/>
            <a:ext cx="1919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JavaScript ES6+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7"/>
          <p:cNvSpPr/>
          <p:nvPr/>
        </p:nvSpPr>
        <p:spPr>
          <a:xfrm>
            <a:off x="6803280" y="1005840"/>
            <a:ext cx="201096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8"/>
          <p:cNvSpPr/>
          <p:nvPr/>
        </p:nvSpPr>
        <p:spPr>
          <a:xfrm>
            <a:off x="6803280" y="1005840"/>
            <a:ext cx="2010960" cy="319320"/>
          </a:xfrm>
          <a:prstGeom prst="rect">
            <a:avLst/>
          </a:prstGeom>
          <a:solidFill>
            <a:srgbClr val="7b3f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9"/>
          <p:cNvSpPr/>
          <p:nvPr/>
        </p:nvSpPr>
        <p:spPr>
          <a:xfrm>
            <a:off x="6803280" y="100584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Estil</a:t>
            </a:r>
            <a:endParaRPr b="0" lang="es-E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0"/>
          <p:cNvSpPr/>
          <p:nvPr/>
        </p:nvSpPr>
        <p:spPr>
          <a:xfrm>
            <a:off x="6803280" y="1353240"/>
            <a:ext cx="2010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🎨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1"/>
          <p:cNvSpPr/>
          <p:nvPr/>
        </p:nvSpPr>
        <p:spPr>
          <a:xfrm>
            <a:off x="6849000" y="2011680"/>
            <a:ext cx="1919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HTML5 / CSS3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2"/>
          <p:cNvSpPr/>
          <p:nvPr/>
        </p:nvSpPr>
        <p:spPr>
          <a:xfrm>
            <a:off x="274320" y="2880360"/>
            <a:ext cx="201096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3"/>
          <p:cNvSpPr/>
          <p:nvPr/>
        </p:nvSpPr>
        <p:spPr>
          <a:xfrm>
            <a:off x="274320" y="2880360"/>
            <a:ext cx="2010960" cy="319320"/>
          </a:xfrm>
          <a:prstGeom prst="rect">
            <a:avLst/>
          </a:prstGeom>
          <a:solidFill>
            <a:srgbClr val="b558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4"/>
          <p:cNvSpPr/>
          <p:nvPr/>
        </p:nvSpPr>
        <p:spPr>
          <a:xfrm>
            <a:off x="274320" y="288036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Mapes</a:t>
            </a:r>
            <a:endParaRPr b="0" lang="es-E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5"/>
          <p:cNvSpPr/>
          <p:nvPr/>
        </p:nvSpPr>
        <p:spPr>
          <a:xfrm>
            <a:off x="274320" y="3227760"/>
            <a:ext cx="2010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🗺️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6"/>
          <p:cNvSpPr/>
          <p:nvPr/>
        </p:nvSpPr>
        <p:spPr>
          <a:xfrm>
            <a:off x="320040" y="3886200"/>
            <a:ext cx="1919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Leaflet 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7"/>
          <p:cNvSpPr/>
          <p:nvPr/>
        </p:nvSpPr>
        <p:spPr>
          <a:xfrm>
            <a:off x="2450520" y="2880360"/>
            <a:ext cx="201096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8"/>
          <p:cNvSpPr/>
          <p:nvPr/>
        </p:nvSpPr>
        <p:spPr>
          <a:xfrm>
            <a:off x="2450520" y="2880360"/>
            <a:ext cx="2010960" cy="319320"/>
          </a:xfrm>
          <a:prstGeom prst="rect">
            <a:avLst/>
          </a:prstGeom>
          <a:solidFill>
            <a:srgbClr val="a816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9"/>
          <p:cNvSpPr/>
          <p:nvPr/>
        </p:nvSpPr>
        <p:spPr>
          <a:xfrm>
            <a:off x="2450520" y="288036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Async</a:t>
            </a:r>
            <a:endParaRPr b="0" lang="es-E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0"/>
          <p:cNvSpPr/>
          <p:nvPr/>
        </p:nvSpPr>
        <p:spPr>
          <a:xfrm>
            <a:off x="2450520" y="3227760"/>
            <a:ext cx="2010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🌐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1"/>
          <p:cNvSpPr/>
          <p:nvPr/>
        </p:nvSpPr>
        <p:spPr>
          <a:xfrm>
            <a:off x="2496240" y="3886200"/>
            <a:ext cx="1919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Fetch API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2"/>
          <p:cNvSpPr/>
          <p:nvPr/>
        </p:nvSpPr>
        <p:spPr>
          <a:xfrm>
            <a:off x="4626720" y="2880360"/>
            <a:ext cx="201096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33"/>
          <p:cNvSpPr/>
          <p:nvPr/>
        </p:nvSpPr>
        <p:spPr>
          <a:xfrm>
            <a:off x="4626720" y="2880360"/>
            <a:ext cx="2010960" cy="319320"/>
          </a:xfrm>
          <a:prstGeom prst="rect">
            <a:avLst/>
          </a:prstGeom>
          <a:solidFill>
            <a:srgbClr val="1b5e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4"/>
          <p:cNvSpPr/>
          <p:nvPr/>
        </p:nvSpPr>
        <p:spPr>
          <a:xfrm>
            <a:off x="4626720" y="288036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Versions</a:t>
            </a:r>
            <a:endParaRPr b="0" lang="es-E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5"/>
          <p:cNvSpPr/>
          <p:nvPr/>
        </p:nvSpPr>
        <p:spPr>
          <a:xfrm>
            <a:off x="4626720" y="3227760"/>
            <a:ext cx="2010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🔀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6"/>
          <p:cNvSpPr/>
          <p:nvPr/>
        </p:nvSpPr>
        <p:spPr>
          <a:xfrm>
            <a:off x="4672440" y="3886200"/>
            <a:ext cx="1919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Git / GitHub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37"/>
          <p:cNvSpPr/>
          <p:nvPr/>
        </p:nvSpPr>
        <p:spPr>
          <a:xfrm>
            <a:off x="6803280" y="2880360"/>
            <a:ext cx="201096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8"/>
          <p:cNvSpPr/>
          <p:nvPr/>
        </p:nvSpPr>
        <p:spPr>
          <a:xfrm>
            <a:off x="6803280" y="2880360"/>
            <a:ext cx="2010960" cy="319320"/>
          </a:xfrm>
          <a:prstGeom prst="rect">
            <a:avLst/>
          </a:prstGeom>
          <a:solidFill>
            <a:srgbClr val="1f6b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9"/>
          <p:cNvSpPr/>
          <p:nvPr/>
        </p:nvSpPr>
        <p:spPr>
          <a:xfrm>
            <a:off x="6803280" y="288036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Gestió</a:t>
            </a:r>
            <a:endParaRPr b="0" lang="es-E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0"/>
          <p:cNvSpPr/>
          <p:nvPr/>
        </p:nvSpPr>
        <p:spPr>
          <a:xfrm>
            <a:off x="6803280" y="3227760"/>
            <a:ext cx="2010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📋</a:t>
            </a:r>
            <a:endParaRPr b="0" lang="es-E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41"/>
          <p:cNvSpPr/>
          <p:nvPr/>
        </p:nvSpPr>
        <p:spPr>
          <a:xfrm>
            <a:off x="6849000" y="3886200"/>
            <a:ext cx="1919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Trello</a:t>
            </a:r>
            <a:endParaRPr b="0" lang="es-E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42"/>
          <p:cNvSpPr/>
          <p:nvPr/>
        </p:nvSpPr>
        <p:spPr>
          <a:xfrm>
            <a:off x="0" y="4754880"/>
            <a:ext cx="9143280" cy="3880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43"/>
          <p:cNvSpPr/>
          <p:nvPr/>
        </p:nvSpPr>
        <p:spPr>
          <a:xfrm>
            <a:off x="365760" y="4754880"/>
            <a:ext cx="841176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Stack professional · Les mateixes eines que s'usen al sector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0"/>
          <p:cNvSpPr/>
          <p:nvPr/>
        </p:nvSpPr>
        <p:spPr>
          <a:xfrm>
            <a:off x="0" y="0"/>
            <a:ext cx="9143280" cy="91368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"/>
          <p:cNvSpPr/>
          <p:nvPr/>
        </p:nvSpPr>
        <p:spPr>
          <a:xfrm>
            <a:off x="365760" y="0"/>
            <a:ext cx="8411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 s'avalua el projecte?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"/>
          <p:cNvSpPr/>
          <p:nvPr/>
        </p:nvSpPr>
        <p:spPr>
          <a:xfrm>
            <a:off x="274320" y="1005840"/>
            <a:ext cx="4022640" cy="2833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"/>
          <p:cNvSpPr/>
          <p:nvPr/>
        </p:nvSpPr>
        <p:spPr>
          <a:xfrm>
            <a:off x="274320" y="1005840"/>
            <a:ext cx="4022640" cy="410760"/>
          </a:xfrm>
          <a:prstGeom prst="rect">
            <a:avLst/>
          </a:prstGeom>
          <a:solidFill>
            <a:srgbClr val="2e86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4"/>
          <p:cNvSpPr/>
          <p:nvPr/>
        </p:nvSpPr>
        <p:spPr>
          <a:xfrm>
            <a:off x="274320" y="1005840"/>
            <a:ext cx="4022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📝  Activitats per Sprint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5"/>
          <p:cNvSpPr/>
          <p:nvPr/>
        </p:nvSpPr>
        <p:spPr>
          <a:xfrm>
            <a:off x="457200" y="1508760"/>
            <a:ext cx="365688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Entregables vinculats a les tasques del tauler Trello.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Cada activitat avalua criteris específics dels RA del mòdul.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Seguiment continu del procés de treball: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ús del Kanban, participació en les cerimònies Scrum i col·laboració en equip.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6"/>
          <p:cNvSpPr/>
          <p:nvPr/>
        </p:nvSpPr>
        <p:spPr>
          <a:xfrm>
            <a:off x="4754880" y="1005840"/>
            <a:ext cx="4022640" cy="2833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7"/>
          <p:cNvSpPr/>
          <p:nvPr/>
        </p:nvSpPr>
        <p:spPr>
          <a:xfrm>
            <a:off x="4754880" y="1005840"/>
            <a:ext cx="4022640" cy="410760"/>
          </a:xfrm>
          <a:prstGeom prst="rect">
            <a:avLst/>
          </a:prstGeom>
          <a:solidFill>
            <a:srgbClr val="e07b3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8"/>
          <p:cNvSpPr/>
          <p:nvPr/>
        </p:nvSpPr>
        <p:spPr>
          <a:xfrm>
            <a:off x="4754880" y="1005840"/>
            <a:ext cx="4022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🚀  Entrega Final del Projecte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9"/>
          <p:cNvSpPr/>
          <p:nvPr/>
        </p:nvSpPr>
        <p:spPr>
          <a:xfrm>
            <a:off x="4937760" y="1508760"/>
            <a:ext cx="365688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Web completa i funcional: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el producte integrador de tot el que s'ha construït.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Presentació final al Sprint 5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amb demostració davant el professorat.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Repositori GitHub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a2342"/>
                </a:solidFill>
                <a:effectLst/>
                <a:uFillTx/>
                <a:latin typeface="Calibri"/>
              </a:rPr>
              <a:t>amb historial de commits i branques per sprint.</a:t>
            </a:r>
            <a:endParaRPr b="0" lang="es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0"/>
          <p:cNvSpPr/>
          <p:nvPr/>
        </p:nvSpPr>
        <p:spPr>
          <a:xfrm>
            <a:off x="1371600" y="3977640"/>
            <a:ext cx="6400080" cy="63936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1"/>
          <p:cNvSpPr/>
          <p:nvPr/>
        </p:nvSpPr>
        <p:spPr>
          <a:xfrm>
            <a:off x="1371600" y="3977640"/>
            <a:ext cx="6400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✅  Nota mínima: 5/10 · Cap criteri amb qualificació d'insuficient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2"/>
          <p:cNvSpPr/>
          <p:nvPr/>
        </p:nvSpPr>
        <p:spPr>
          <a:xfrm>
            <a:off x="0" y="4754880"/>
            <a:ext cx="9143280" cy="3880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3"/>
          <p:cNvSpPr/>
          <p:nvPr/>
        </p:nvSpPr>
        <p:spPr>
          <a:xfrm>
            <a:off x="365760" y="4754880"/>
            <a:ext cx="841176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</a:rPr>
              <a:t>S'avalua el producte I el procés · Treball en equip i individual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-914400" y="-914400"/>
            <a:ext cx="6400080" cy="6400080"/>
          </a:xfrm>
          <a:prstGeom prst="ellipse">
            <a:avLst/>
          </a:prstGeom>
          <a:solidFill>
            <a:srgbClr val="1b4f72">
              <a:alpha val="35000"/>
            </a:srgbClr>
          </a:solidFill>
          <a:ln w="12700">
            <a:solidFill>
              <a:srgbClr val="1b4f72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"/>
          <p:cNvSpPr/>
          <p:nvPr/>
        </p:nvSpPr>
        <p:spPr>
          <a:xfrm>
            <a:off x="5486400" y="1828800"/>
            <a:ext cx="5485680" cy="5485680"/>
          </a:xfrm>
          <a:prstGeom prst="ellipse">
            <a:avLst/>
          </a:prstGeom>
          <a:solidFill>
            <a:srgbClr val="2e86ab">
              <a:alpha val="25000"/>
            </a:srgbClr>
          </a:solidFill>
          <a:ln w="12700">
            <a:solidFill>
              <a:srgbClr val="2e86ab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"/>
          <p:cNvSpPr/>
          <p:nvPr/>
        </p:nvSpPr>
        <p:spPr>
          <a:xfrm>
            <a:off x="0" y="0"/>
            <a:ext cx="227880" cy="5142960"/>
          </a:xfrm>
          <a:prstGeom prst="rect">
            <a:avLst/>
          </a:prstGeom>
          <a:solidFill>
            <a:srgbClr val="2e86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3"/>
          <p:cNvSpPr/>
          <p:nvPr/>
        </p:nvSpPr>
        <p:spPr>
          <a:xfrm>
            <a:off x="548640" y="914400"/>
            <a:ext cx="80460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Bona feina i endavant!</a:t>
            </a:r>
            <a:endParaRPr b="0" lang="es-E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4"/>
          <p:cNvSpPr/>
          <p:nvPr/>
        </p:nvSpPr>
        <p:spPr>
          <a:xfrm>
            <a:off x="731520" y="2194560"/>
            <a:ext cx="7680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a8dadc"/>
                </a:solidFill>
                <a:effectLst/>
                <a:uFillTx/>
                <a:latin typeface="Calibri"/>
              </a:rPr>
              <a:t>Construïu una aplicació real que ajudarà el vostre comerç local.</a:t>
            </a:r>
            <a:endParaRPr b="0" lang="es-E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5"/>
          <p:cNvSpPr/>
          <p:nvPr/>
        </p:nvSpPr>
        <p:spPr>
          <a:xfrm>
            <a:off x="1097280" y="2926080"/>
            <a:ext cx="2193840" cy="1370880"/>
          </a:xfrm>
          <a:prstGeom prst="roundRect">
            <a:avLst>
              <a:gd name="adj" fmla="val 5333"/>
            </a:avLst>
          </a:prstGeom>
          <a:solidFill>
            <a:srgbClr val="1b4f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6"/>
          <p:cNvSpPr/>
          <p:nvPr/>
        </p:nvSpPr>
        <p:spPr>
          <a:xfrm>
            <a:off x="1097280" y="297180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👨‍💻</a:t>
            </a:r>
            <a:endParaRPr b="0" lang="es-E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7"/>
          <p:cNvSpPr/>
          <p:nvPr/>
        </p:nvSpPr>
        <p:spPr>
          <a:xfrm>
            <a:off x="1097280" y="3611880"/>
            <a:ext cx="2193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Aprén com es treballa al sector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8"/>
          <p:cNvSpPr/>
          <p:nvPr/>
        </p:nvSpPr>
        <p:spPr>
          <a:xfrm>
            <a:off x="3657600" y="2926080"/>
            <a:ext cx="2193840" cy="1370880"/>
          </a:xfrm>
          <a:prstGeom prst="roundRect">
            <a:avLst>
              <a:gd name="adj" fmla="val 5333"/>
            </a:avLst>
          </a:prstGeom>
          <a:solidFill>
            <a:srgbClr val="1b4f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3657600" y="297180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🤝</a:t>
            </a:r>
            <a:endParaRPr b="0" lang="es-E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0"/>
          <p:cNvSpPr/>
          <p:nvPr/>
        </p:nvSpPr>
        <p:spPr>
          <a:xfrm>
            <a:off x="3657600" y="3611880"/>
            <a:ext cx="2193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Treball col.laboratiu en equip 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1"/>
          <p:cNvSpPr/>
          <p:nvPr/>
        </p:nvSpPr>
        <p:spPr>
          <a:xfrm>
            <a:off x="6217920" y="2926080"/>
            <a:ext cx="2193840" cy="1370880"/>
          </a:xfrm>
          <a:prstGeom prst="roundRect">
            <a:avLst>
              <a:gd name="adj" fmla="val 5333"/>
            </a:avLst>
          </a:prstGeom>
          <a:solidFill>
            <a:srgbClr val="1b4f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2"/>
          <p:cNvSpPr/>
          <p:nvPr/>
        </p:nvSpPr>
        <p:spPr>
          <a:xfrm>
            <a:off x="6217920" y="297180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🌍</a:t>
            </a:r>
            <a:endParaRPr b="0" lang="es-E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3"/>
          <p:cNvSpPr/>
          <p:nvPr/>
        </p:nvSpPr>
        <p:spPr>
          <a:xfrm>
            <a:off x="6217920" y="3611880"/>
            <a:ext cx="2193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Impacte real al municipi</a:t>
            </a:r>
            <a:endParaRPr b="0" lang="es-E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4"/>
          <p:cNvSpPr/>
          <p:nvPr/>
        </p:nvSpPr>
        <p:spPr>
          <a:xfrm>
            <a:off x="0" y="4754880"/>
            <a:ext cx="9143280" cy="388080"/>
          </a:xfrm>
          <a:prstGeom prst="rect">
            <a:avLst/>
          </a:prstGeom>
          <a:solidFill>
            <a:srgbClr val="1b4f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5"/>
          <p:cNvSpPr/>
          <p:nvPr/>
        </p:nvSpPr>
        <p:spPr>
          <a:xfrm>
            <a:off x="365760" y="4754880"/>
            <a:ext cx="8411760" cy="3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8dadc"/>
                </a:solidFill>
                <a:effectLst/>
                <a:uFillTx/>
                <a:latin typeface="Calibri"/>
              </a:rPr>
              <a:t>Mòdul 0612 — DWEC · DAW · RD 405/2023</a:t>
            </a:r>
            <a:endParaRPr b="0" lang="es-E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2026-06-02T11:29:47Z</dcterms:created>
  <dc:creator>PptxGenJS</dc:creator>
  <dc:description/>
  <dc:language>es-ES</dc:language>
  <cp:lastModifiedBy/>
  <dcterms:modified xsi:type="dcterms:W3CDTF">2026-06-03T11:17:27Z</dcterms:modified>
  <cp:revision>8</cp:revision>
  <dc:subject>PptxGenJS Presentation</dc:subject>
  <dc:title>SAComercLocal — Presentació del Projecte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